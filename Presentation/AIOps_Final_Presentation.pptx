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6" r:id="rId20"/>
    <p:sldId id="277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05BF7-083A-47C2-85AA-9B29B2D6F219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A5F84-3B54-4C7A-955B-189B94311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88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A5F84-3B54-4C7A-955B-189B94311B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89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COEP Technological University, Pune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114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824" y="1481328"/>
            <a:ext cx="950045" cy="1170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834640"/>
            <a:ext cx="10545775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 i="0">
                <a:solidFill>
                  <a:srgbClr val="1F3864"/>
                </a:solidFill>
                <a:latin typeface="Calibri"/>
              </a:rPr>
              <a:t>Intelligent AIOps Framework for Predictive CI/CD Pipeline Management and Autonomous Resource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45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 dirty="0" err="1">
                <a:solidFill>
                  <a:srgbClr val="595959"/>
                </a:solidFill>
                <a:latin typeface="Calibri"/>
              </a:rPr>
              <a:t>M.Tech</a:t>
            </a:r>
            <a:r>
              <a:rPr sz="1500" b="0" i="1" dirty="0">
                <a:solidFill>
                  <a:srgbClr val="595959"/>
                </a:solidFill>
                <a:latin typeface="Calibri"/>
              </a:rPr>
              <a:t> Dissertation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62626"/>
                </a:solidFill>
                <a:latin typeface="Calibri"/>
              </a:rPr>
              <a:t>Tejas Annasaheb Jagtap</a:t>
            </a:r>
          </a:p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M.Tech (Information Security)  •  MIS: 712442021</a:t>
            </a:r>
          </a:p>
          <a:p>
            <a:pPr algn="ctr">
              <a:spcBef>
                <a:spcPts val="1000"/>
              </a:spcBef>
            </a:pPr>
            <a:r>
              <a:rPr sz="1600" b="0" i="0">
                <a:solidFill>
                  <a:srgbClr val="262626"/>
                </a:solidFill>
                <a:latin typeface="Calibri"/>
              </a:rPr>
              <a:t>Guide: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Dr. V. K. Pachghare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3035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BF9000"/>
                </a:solidFill>
                <a:latin typeface="Calibri"/>
              </a:rPr>
              <a:t> 1. 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Introduction &amp; Motivation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F9000"/>
                </a:solidFill>
                <a:latin typeface="Calibri"/>
              </a:rPr>
              <a:t> 2. 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Literature Survey &amp; Research Gap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F9000"/>
                </a:solidFill>
                <a:latin typeface="Calibri"/>
              </a:rPr>
              <a:t> 3. 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Problem Statement &amp; Objectives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F9000"/>
                </a:solidFill>
                <a:latin typeface="Calibri"/>
              </a:rPr>
              <a:t> 4. 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Proposed System Architecture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F9000"/>
                </a:solidFill>
                <a:latin typeface="Calibri"/>
              </a:rPr>
              <a:t> 5. 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Methodology: Data &amp; the Three ML Models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BF9000"/>
                </a:solidFill>
                <a:latin typeface="Calibri"/>
              </a:rPr>
              <a:t> 6.  </a:t>
            </a:r>
            <a:r>
              <a:rPr sz="1900" b="0" i="0">
                <a:solidFill>
                  <a:srgbClr val="262626"/>
                </a:solidFill>
                <a:latin typeface="Calibri"/>
              </a:rPr>
              <a:t>Evaluation Results (XGBoost, Autoencoder, LSTM)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303520" cy="178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 dirty="0">
                <a:solidFill>
                  <a:srgbClr val="BF9000"/>
                </a:solidFill>
                <a:latin typeface="Calibri"/>
              </a:rPr>
              <a:t> 7.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System Integration: </a:t>
            </a:r>
            <a:r>
              <a:rPr sz="1900" b="0" i="0" dirty="0" err="1">
                <a:solidFill>
                  <a:srgbClr val="262626"/>
                </a:solidFill>
                <a:latin typeface="Calibri"/>
              </a:rPr>
              <a:t>FastAPI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Orchestrator</a:t>
            </a:r>
          </a:p>
          <a:p>
            <a:pPr>
              <a:spcAft>
                <a:spcPts val="1600"/>
              </a:spcAft>
            </a:pPr>
            <a:r>
              <a:rPr sz="1900" b="1" i="0" dirty="0">
                <a:solidFill>
                  <a:srgbClr val="BF9000"/>
                </a:solidFill>
                <a:latin typeface="Calibri"/>
              </a:rPr>
              <a:t> 8.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Predictive </a:t>
            </a:r>
            <a:r>
              <a:rPr sz="1900" b="0" i="0" dirty="0" err="1">
                <a:solidFill>
                  <a:srgbClr val="262626"/>
                </a:solidFill>
                <a:latin typeface="Calibri"/>
              </a:rPr>
              <a:t>Autoscaler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&amp; Decision Algorithm</a:t>
            </a:r>
            <a:endParaRPr lang="en-IN" sz="1900" b="0" i="0" dirty="0">
              <a:solidFill>
                <a:srgbClr val="262626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lang="en-IN" sz="1900" b="1" dirty="0">
                <a:solidFill>
                  <a:srgbClr val="BF9000"/>
                </a:solidFill>
                <a:latin typeface="Calibri"/>
              </a:rPr>
              <a:t>9</a:t>
            </a:r>
            <a:r>
              <a:rPr sz="1900" b="1" i="0" dirty="0">
                <a:solidFill>
                  <a:srgbClr val="BF9000"/>
                </a:solidFill>
                <a:latin typeface="Calibri"/>
              </a:rPr>
              <a:t>.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Comparison with Related Work</a:t>
            </a:r>
          </a:p>
          <a:p>
            <a:pPr>
              <a:spcAft>
                <a:spcPts val="1600"/>
              </a:spcAft>
            </a:pPr>
            <a:r>
              <a:rPr sz="1900" b="1" i="0" dirty="0">
                <a:solidFill>
                  <a:srgbClr val="BF9000"/>
                </a:solidFill>
                <a:latin typeface="Calibri"/>
              </a:rPr>
              <a:t>1</a:t>
            </a:r>
            <a:r>
              <a:rPr lang="en-IN" sz="1900" b="1" dirty="0">
                <a:solidFill>
                  <a:srgbClr val="BF9000"/>
                </a:solidFill>
                <a:latin typeface="Calibri"/>
              </a:rPr>
              <a:t>0</a:t>
            </a:r>
            <a:r>
              <a:rPr sz="1900" b="1" i="0" dirty="0">
                <a:solidFill>
                  <a:srgbClr val="BF9000"/>
                </a:solidFill>
                <a:latin typeface="Calibri"/>
              </a:rPr>
              <a:t>.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Conclusion, Future Scope &amp; Publications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85855" cy="243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Modern software delivery depends on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CI/CD pipelines (Jenkins)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and container orchestration with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Kubernetes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These systems generate large volumes of build logs and infrastructure metrics every day.</a:t>
            </a:r>
          </a:p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Traditional monitoring is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reactive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IN" sz="1900" b="0" i="0" dirty="0">
                <a:solidFill>
                  <a:srgbClr val="262626"/>
                </a:solidFill>
                <a:latin typeface="Calibri"/>
              </a:rPr>
              <a:t>-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it responds only after a failure or overload has already occurred:</a:t>
            </a:r>
          </a:p>
          <a:p>
            <a:pPr lvl="1" algn="l">
              <a:spcAft>
                <a:spcPts val="1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Build failures are discovered only after the build runs and wastes compute.</a:t>
            </a:r>
          </a:p>
          <a:p>
            <a:pPr lvl="1" algn="l">
              <a:spcAft>
                <a:spcPts val="1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Log issues are found by manually reading thousands of log lines.</a:t>
            </a:r>
          </a:p>
          <a:p>
            <a:pPr lvl="1" algn="l">
              <a:spcAft>
                <a:spcPts val="1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Kubernetes HPA adds pods only after CPU has already crossed a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49240"/>
            <a:ext cx="9631375" cy="68580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AIOps</a:t>
            </a:r>
            <a:r>
              <a:rPr sz="1700" b="0" i="0">
                <a:solidFill>
                  <a:srgbClr val="1F3864"/>
                </a:solidFill>
                <a:latin typeface="Calibri"/>
              </a:rPr>
              <a:t> (AI for IT Operations): apply Machine Learning to make these operations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predictive and self-optimizing</a:t>
            </a:r>
            <a:r>
              <a:rPr sz="1700" b="0" i="0">
                <a:solidFill>
                  <a:srgbClr val="1F386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 dirty="0">
                <a:solidFill>
                  <a:srgbClr val="1F3864"/>
                </a:solidFill>
                <a:latin typeface="Calibri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3203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Frequent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build failures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cause deployment delays and wasted compute.</a:t>
            </a:r>
          </a:p>
          <a:p>
            <a:pPr algn="l">
              <a:spcAft>
                <a:spcPts val="11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Manual root-cause analysis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of logs is slow, tedious and error-prone.</a:t>
            </a:r>
          </a:p>
          <a:p>
            <a:pPr algn="l">
              <a:spcAft>
                <a:spcPts val="11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Reactive autoscaling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introduces scaling lag </a:t>
            </a:r>
            <a:r>
              <a:rPr lang="en-IN" sz="1900" b="0" i="0" dirty="0">
                <a:solidFill>
                  <a:srgbClr val="262626"/>
                </a:solidFill>
                <a:latin typeface="Calibri"/>
              </a:rPr>
              <a:t>-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over-provisioning (cost) or degradation (SLA breach).</a:t>
            </a:r>
          </a:p>
          <a:p>
            <a:pPr algn="l">
              <a:spcAft>
                <a:spcPts val="11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Need: one self-learning framework that:</a:t>
            </a:r>
          </a:p>
          <a:p>
            <a:pPr lvl="1" algn="l">
              <a:spcAft>
                <a:spcPts val="11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Predicts build failures early from historical build patterns.</a:t>
            </a:r>
          </a:p>
          <a:p>
            <a:pPr lvl="1" algn="l">
              <a:spcAft>
                <a:spcPts val="11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Detects log anomalies automatically, in real time.</a:t>
            </a:r>
          </a:p>
          <a:p>
            <a:pPr lvl="1" algn="l">
              <a:spcAft>
                <a:spcPts val="11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Forecasts resource demand and scales proactively.</a:t>
            </a:r>
          </a:p>
          <a:p>
            <a:pPr lvl="1" algn="l">
              <a:spcAft>
                <a:spcPts val="11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Closes the loop  predictions drive automatic Kubernetes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440680"/>
            <a:ext cx="9631375" cy="64008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0" i="0" dirty="0">
                <a:solidFill>
                  <a:srgbClr val="1F3864"/>
                </a:solidFill>
                <a:latin typeface="Calibri"/>
              </a:rPr>
              <a:t>Prior research treats these as </a:t>
            </a:r>
            <a:r>
              <a:rPr sz="1700" b="1" i="0" dirty="0">
                <a:solidFill>
                  <a:srgbClr val="1F3864"/>
                </a:solidFill>
                <a:latin typeface="Calibri"/>
              </a:rPr>
              <a:t>three separate problems</a:t>
            </a:r>
            <a:r>
              <a:rPr sz="1700" b="0" i="0" dirty="0">
                <a:solidFill>
                  <a:srgbClr val="1F3864"/>
                </a:solidFill>
                <a:latin typeface="Calibri"/>
              </a:rPr>
              <a:t> </a:t>
            </a:r>
            <a:r>
              <a:rPr lang="en-IN" sz="1700" dirty="0">
                <a:solidFill>
                  <a:srgbClr val="1F3864"/>
                </a:solidFill>
                <a:latin typeface="Calibri"/>
              </a:rPr>
              <a:t>- </a:t>
            </a:r>
            <a:r>
              <a:rPr sz="1700" b="0" i="0" dirty="0">
                <a:solidFill>
                  <a:srgbClr val="1F3864"/>
                </a:solidFill>
                <a:latin typeface="Calibri"/>
              </a:rPr>
              <a:t>no unified, closed-loop system exists.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83111" cy="3538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Sr.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Work Done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ML-Based Autoscaling for Cloud Resource Orchestration (J. Grid Computing, 2024)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Compares ML models for predicting cluster load for autoscaling.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Autoscaling only; </a:t>
                      </a:r>
                      <a:r>
                        <a:rPr sz="1300" b="1" i="0">
                          <a:solidFill>
                            <a:srgbClr val="1F3864"/>
                          </a:solidFill>
                          <a:latin typeface="Calibri"/>
                        </a:rPr>
                        <a:t>no CI/CD or log integration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Time-series K8s Autoscaling using Prophet + LSTM (Frontiers in CS, 2025)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Hybrid Prophet + LSTM forecast for proactive scaling.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No CI/CD signals or log anomalies; </a:t>
                      </a:r>
                      <a:r>
                        <a:rPr sz="1300" b="1" i="0">
                          <a:solidFill>
                            <a:srgbClr val="1F3864"/>
                          </a:solidFill>
                          <a:latin typeface="Calibri"/>
                        </a:rPr>
                        <a:t>scaling in isolation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Deep Learning for Multivariate Time-Series Anomaly Detection (AI Review, 2025)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Survey of autoencoders / VAEs for anomaly detection.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Survey only; </a:t>
                      </a:r>
                      <a:r>
                        <a:rPr sz="1300" b="1" i="0">
                          <a:solidFill>
                            <a:srgbClr val="1F3864"/>
                          </a:solidFill>
                          <a:latin typeface="Calibri"/>
                        </a:rPr>
                        <a:t>no concrete DevOps application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 dirty="0">
                <a:solidFill>
                  <a:srgbClr val="1F3864"/>
                </a:solidFill>
                <a:latin typeface="Calibri"/>
              </a:rPr>
              <a:t>Literature Survey (contd.)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76388"/>
              </p:ext>
            </p:extLst>
          </p:nvPr>
        </p:nvGraphicFramePr>
        <p:xfrm>
          <a:off x="502920" y="1325880"/>
          <a:ext cx="11183111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Sr.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Work Done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Towards Optimization of Anomaly Detection in DevOps (IST, 2023)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Evaluates anomaly-detection techniques for DevOps monitoring.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Runtime anomalies only; </a:t>
                      </a:r>
                      <a:r>
                        <a:rPr sz="1300" b="1" i="0">
                          <a:solidFill>
                            <a:srgbClr val="1F3864"/>
                          </a:solidFill>
                          <a:latin typeface="Calibri"/>
                        </a:rPr>
                        <a:t>no CI/CD build prediction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AI-Enhanced Platform Engineering for CI/CD (2025)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Proposes AI integration for CI/CD optimization.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dirty="0">
                          <a:solidFill>
                            <a:srgbClr val="1F3864"/>
                          </a:solidFill>
                          <a:latin typeface="Calibri"/>
                        </a:rPr>
                        <a:t>Conceptual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 —</a:t>
                      </a:r>
                      <a:r>
                        <a:rPr lang="en-IN"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-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no trained models, no validation.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Predictive Failure Analysis in CI Pipelines using Ensemble Trees (IJACS, 2025)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Ensemble tree models for CI build-failure prediction.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Limited dataset; </a:t>
                      </a:r>
                      <a:r>
                        <a:rPr sz="1300" b="1" i="0" dirty="0">
                          <a:solidFill>
                            <a:srgbClr val="1F3864"/>
                          </a:solidFill>
                          <a:latin typeface="Calibri"/>
                        </a:rPr>
                        <a:t>no anomaly detection or scaling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Agentic AIOps: From Reactive to Autonomous Operations (2025)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Framework for closed-loop / autonomous AIOps.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Conceptual closed loop; </a:t>
                      </a:r>
                      <a:r>
                        <a:rPr sz="1300" b="1" i="0" dirty="0">
                          <a:solidFill>
                            <a:srgbClr val="1F3864"/>
                          </a:solidFill>
                          <a:latin typeface="Calibri"/>
                        </a:rPr>
                        <a:t>no concrete models shipped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85855" cy="2877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Existing studies address each problem in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isolation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:</a:t>
            </a:r>
          </a:p>
          <a:p>
            <a:pPr lvl="1" algn="l">
              <a:spcAft>
                <a:spcPts val="1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Build-failure prediction, </a:t>
            </a:r>
            <a:r>
              <a:rPr sz="1700" b="1" i="0" dirty="0">
                <a:solidFill>
                  <a:srgbClr val="1F3864"/>
                </a:solidFill>
                <a:latin typeface="Calibri"/>
              </a:rPr>
              <a:t>or</a:t>
            </a:r>
          </a:p>
          <a:p>
            <a:pPr lvl="1" algn="l">
              <a:spcAft>
                <a:spcPts val="1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Log anomaly detection, </a:t>
            </a:r>
            <a:r>
              <a:rPr sz="1700" b="1" i="0" dirty="0">
                <a:solidFill>
                  <a:srgbClr val="1F3864"/>
                </a:solidFill>
                <a:latin typeface="Calibri"/>
              </a:rPr>
              <a:t>or</a:t>
            </a:r>
          </a:p>
          <a:p>
            <a:pPr lvl="1" algn="l">
              <a:spcAft>
                <a:spcPts val="1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–  </a:t>
            </a:r>
            <a:r>
              <a:rPr sz="1700" b="0" i="0" dirty="0">
                <a:solidFill>
                  <a:srgbClr val="262626"/>
                </a:solidFill>
                <a:latin typeface="Calibri"/>
              </a:rPr>
              <a:t>Predictive autoscaling.</a:t>
            </a:r>
          </a:p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No single framework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unifies all three signal types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Reactive Kubernetes HPA still dominates </a:t>
            </a:r>
            <a:r>
              <a:rPr lang="en-IN" sz="1900" b="0" i="0" dirty="0">
                <a:solidFill>
                  <a:srgbClr val="262626"/>
                </a:solidFill>
                <a:latin typeface="Calibri"/>
              </a:rPr>
              <a:t>-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predictive scaling is rare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 in practice.</a:t>
            </a:r>
          </a:p>
          <a:p>
            <a:pPr algn="l">
              <a:spcAft>
                <a:spcPts val="1200"/>
              </a:spcAft>
            </a:pPr>
            <a:r>
              <a:rPr sz="190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Very few works build a true </a:t>
            </a:r>
            <a:r>
              <a:rPr sz="1900" b="1" i="0" dirty="0">
                <a:solidFill>
                  <a:srgbClr val="1F3864"/>
                </a:solidFill>
                <a:latin typeface="Calibri"/>
              </a:rPr>
              <a:t>closed loop</a:t>
            </a:r>
            <a:r>
              <a:rPr sz="1900" b="0" i="0" dirty="0">
                <a:solidFill>
                  <a:srgbClr val="262626"/>
                </a:solidFill>
                <a:latin typeface="Calibri"/>
              </a:rPr>
              <a:t>: prediction → decision → automatic Kubernetes action →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394960"/>
            <a:ext cx="9631375" cy="68580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Gap:</a:t>
            </a:r>
            <a:r>
              <a:rPr sz="1700" b="0" i="0">
                <a:solidFill>
                  <a:srgbClr val="1F3864"/>
                </a:solidFill>
                <a:latin typeface="Calibri"/>
              </a:rPr>
              <a:t> an integrated, closed-loop AIOps framework linking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Jenkins → ML → Kubernetes</a:t>
            </a:r>
            <a:r>
              <a:rPr sz="1700" b="0" i="0">
                <a:solidFill>
                  <a:srgbClr val="1F3864"/>
                </a:solidFill>
                <a:latin typeface="Calibri"/>
              </a:rPr>
              <a:t> in one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148840"/>
            <a:ext cx="10088575" cy="228600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rIns="411480" rtlCol="0" anchor="ctr"/>
          <a:lstStyle/>
          <a:p>
            <a:pPr algn="ctr"/>
            <a:r>
              <a:rPr sz="2200" b="0" i="0">
                <a:solidFill>
                  <a:srgbClr val="262626"/>
                </a:solidFill>
                <a:latin typeface="Calibri"/>
              </a:rPr>
              <a:t>“To design and implement an intelligent, closed-loop AIOps framework that proactively </a:t>
            </a:r>
            <a:r>
              <a:rPr sz="2200" b="1" i="0">
                <a:solidFill>
                  <a:srgbClr val="1F3864"/>
                </a:solidFill>
                <a:latin typeface="Calibri"/>
              </a:rPr>
              <a:t>predicts CI/CD pipeline failures</a:t>
            </a:r>
            <a:r>
              <a:rPr sz="2200" b="0" i="0">
                <a:solidFill>
                  <a:srgbClr val="262626"/>
                </a:solidFill>
                <a:latin typeface="Calibri"/>
              </a:rPr>
              <a:t>, </a:t>
            </a:r>
            <a:r>
              <a:rPr sz="2200" b="1" i="0">
                <a:solidFill>
                  <a:srgbClr val="1F3864"/>
                </a:solidFill>
                <a:latin typeface="Calibri"/>
              </a:rPr>
              <a:t>detects anomalies</a:t>
            </a:r>
            <a:r>
              <a:rPr sz="2200" b="0" i="0">
                <a:solidFill>
                  <a:srgbClr val="262626"/>
                </a:solidFill>
                <a:latin typeface="Calibri"/>
              </a:rPr>
              <a:t> in Jenkins logs in real time, </a:t>
            </a:r>
            <a:r>
              <a:rPr sz="2200" b="1" i="0">
                <a:solidFill>
                  <a:srgbClr val="1F3864"/>
                </a:solidFill>
                <a:latin typeface="Calibri"/>
              </a:rPr>
              <a:t>forecasts</a:t>
            </a:r>
            <a:r>
              <a:rPr sz="2200" b="0" i="0">
                <a:solidFill>
                  <a:srgbClr val="262626"/>
                </a:solidFill>
                <a:latin typeface="Calibri"/>
              </a:rPr>
              <a:t> infrastructure workload, and autonomously optimizes Kubernetes resources through </a:t>
            </a:r>
            <a:r>
              <a:rPr sz="2200" b="1" i="0">
                <a:solidFill>
                  <a:srgbClr val="1F3864"/>
                </a:solidFill>
                <a:latin typeface="Calibri"/>
              </a:rPr>
              <a:t>predictive autoscaling</a:t>
            </a:r>
            <a:r>
              <a:rPr sz="2200" b="0" i="0">
                <a:solidFill>
                  <a:srgbClr val="262626"/>
                </a:solidFill>
                <a:latin typeface="Calibri"/>
              </a:rPr>
              <a:t>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20095" cy="176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 dirty="0">
                <a:solidFill>
                  <a:srgbClr val="BF9000"/>
                </a:solidFill>
                <a:latin typeface="Calibri"/>
              </a:rPr>
              <a:t>1.  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Develop a </a:t>
            </a:r>
            <a:r>
              <a:rPr sz="2000" b="1" i="0" dirty="0">
                <a:solidFill>
                  <a:srgbClr val="1F3864"/>
                </a:solidFill>
                <a:latin typeface="Calibri"/>
              </a:rPr>
              <a:t>data-collection framework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 for CI/CD build data and cluster metrics.</a:t>
            </a:r>
            <a:r>
              <a:rPr sz="2000" b="1" i="0" dirty="0">
                <a:solidFill>
                  <a:srgbClr val="1E7B34"/>
                </a:solidFill>
                <a:latin typeface="Calibri"/>
              </a:rPr>
              <a:t>   ✓</a:t>
            </a:r>
          </a:p>
          <a:p>
            <a:pPr>
              <a:spcAft>
                <a:spcPts val="1400"/>
              </a:spcAft>
            </a:pPr>
            <a:r>
              <a:rPr sz="2000" b="1" i="0" dirty="0">
                <a:solidFill>
                  <a:srgbClr val="BF9000"/>
                </a:solidFill>
                <a:latin typeface="Calibri"/>
              </a:rPr>
              <a:t>2.  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Build </a:t>
            </a:r>
            <a:r>
              <a:rPr sz="2000" b="1" i="0" dirty="0">
                <a:solidFill>
                  <a:srgbClr val="1F3864"/>
                </a:solidFill>
                <a:latin typeface="Calibri"/>
              </a:rPr>
              <a:t>ML models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 for failure prediction, log anomaly detection and CPU forecasting.</a:t>
            </a:r>
            <a:r>
              <a:rPr sz="2000" b="1" i="0" dirty="0">
                <a:solidFill>
                  <a:srgbClr val="1E7B34"/>
                </a:solidFill>
                <a:latin typeface="Calibri"/>
              </a:rPr>
              <a:t>   ✓</a:t>
            </a:r>
          </a:p>
          <a:p>
            <a:pPr>
              <a:spcAft>
                <a:spcPts val="1400"/>
              </a:spcAft>
            </a:pPr>
            <a:r>
              <a:rPr sz="2000" b="1" i="0" dirty="0">
                <a:solidFill>
                  <a:srgbClr val="BF9000"/>
                </a:solidFill>
                <a:latin typeface="Calibri"/>
              </a:rPr>
              <a:t>3.  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Implement a </a:t>
            </a:r>
            <a:r>
              <a:rPr sz="2000" b="1" i="0" dirty="0" err="1">
                <a:solidFill>
                  <a:srgbClr val="1F3864"/>
                </a:solidFill>
                <a:latin typeface="Calibri"/>
              </a:rPr>
              <a:t>FastAPI</a:t>
            </a:r>
            <a:r>
              <a:rPr sz="2000" b="1" i="0" dirty="0">
                <a:solidFill>
                  <a:srgbClr val="1F3864"/>
                </a:solidFill>
                <a:latin typeface="Calibri"/>
              </a:rPr>
              <a:t>-based AIOps orchestrator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 serving all models via unified APIs.</a:t>
            </a:r>
            <a:r>
              <a:rPr sz="2000" b="1" i="0" dirty="0">
                <a:solidFill>
                  <a:srgbClr val="1E7B34"/>
                </a:solidFill>
                <a:latin typeface="Calibri"/>
              </a:rPr>
              <a:t>   ✓</a:t>
            </a:r>
          </a:p>
          <a:p>
            <a:pPr>
              <a:spcAft>
                <a:spcPts val="1400"/>
              </a:spcAft>
            </a:pPr>
            <a:r>
              <a:rPr sz="2000" b="1" i="0" dirty="0">
                <a:solidFill>
                  <a:srgbClr val="BF9000"/>
                </a:solidFill>
                <a:latin typeface="Calibri"/>
              </a:rPr>
              <a:t>4.  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Design a </a:t>
            </a:r>
            <a:r>
              <a:rPr sz="2000" b="1" i="0" dirty="0">
                <a:solidFill>
                  <a:srgbClr val="1F3864"/>
                </a:solidFill>
                <a:latin typeface="Calibri"/>
              </a:rPr>
              <a:t>predictive autoscaling engine</a:t>
            </a:r>
            <a:r>
              <a:rPr sz="2000" b="0" i="0" dirty="0">
                <a:solidFill>
                  <a:srgbClr val="262626"/>
                </a:solidFill>
                <a:latin typeface="Calibri"/>
              </a:rPr>
              <a:t> for Kubernetes driven by ML outputs.</a:t>
            </a:r>
            <a:r>
              <a:rPr sz="2000" b="1" i="0" dirty="0">
                <a:solidFill>
                  <a:srgbClr val="1E7B34"/>
                </a:solidFill>
                <a:latin typeface="Calibri"/>
              </a:rPr>
              <a:t>  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architecut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48" y="1188720"/>
            <a:ext cx="3601142" cy="5138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35707" y="1243867"/>
            <a:ext cx="7162495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Closed-loop pipeline with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four layers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: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1. Data Collectors</a:t>
            </a:r>
          </a:p>
          <a:p>
            <a:pPr lvl="1" algn="l">
              <a:spcAft>
                <a:spcPts val="70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–  </a:t>
            </a:r>
            <a:r>
              <a:rPr sz="1550" b="0" i="0">
                <a:solidFill>
                  <a:srgbClr val="262626"/>
                </a:solidFill>
                <a:latin typeface="Calibri"/>
              </a:rPr>
              <a:t>Jenkins REST API → build metadata + console logs.</a:t>
            </a:r>
          </a:p>
          <a:p>
            <a:pPr lvl="1" algn="l">
              <a:spcAft>
                <a:spcPts val="70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–  </a:t>
            </a:r>
            <a:r>
              <a:rPr sz="1550" b="0" i="0">
                <a:solidFill>
                  <a:srgbClr val="262626"/>
                </a:solidFill>
                <a:latin typeface="Calibri"/>
              </a:rPr>
              <a:t>Prometheus HTTP API → CPU / memory metrics.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2. ML Layer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— three models:</a:t>
            </a:r>
          </a:p>
          <a:p>
            <a:pPr lvl="1" algn="l">
              <a:spcAft>
                <a:spcPts val="70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–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XGBoost</a:t>
            </a:r>
            <a:r>
              <a:rPr sz="1550" b="0" i="0">
                <a:solidFill>
                  <a:srgbClr val="262626"/>
                </a:solidFill>
                <a:latin typeface="Calibri"/>
              </a:rPr>
              <a:t> → build-failure prediction.</a:t>
            </a:r>
          </a:p>
          <a:p>
            <a:pPr lvl="1" algn="l">
              <a:spcAft>
                <a:spcPts val="70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–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TF-IDF + Autoencoder</a:t>
            </a:r>
            <a:r>
              <a:rPr sz="1550" b="0" i="0">
                <a:solidFill>
                  <a:srgbClr val="262626"/>
                </a:solidFill>
                <a:latin typeface="Calibri"/>
              </a:rPr>
              <a:t> → log anomaly detection.</a:t>
            </a:r>
          </a:p>
          <a:p>
            <a:pPr lvl="1" algn="l">
              <a:spcAft>
                <a:spcPts val="700"/>
              </a:spcAft>
            </a:pPr>
            <a:r>
              <a:rPr sz="1550" b="0" i="0">
                <a:solidFill>
                  <a:srgbClr val="595959"/>
                </a:solidFill>
                <a:latin typeface="Calibri"/>
              </a:rPr>
              <a:t>–  </a:t>
            </a:r>
            <a:r>
              <a:rPr sz="1550" b="1" i="0">
                <a:solidFill>
                  <a:srgbClr val="1F3864"/>
                </a:solidFill>
                <a:latin typeface="Calibri"/>
              </a:rPr>
              <a:t>LSTM</a:t>
            </a:r>
            <a:r>
              <a:rPr sz="1550" b="0" i="0">
                <a:solidFill>
                  <a:srgbClr val="262626"/>
                </a:solidFill>
                <a:latin typeface="Calibri"/>
              </a:rPr>
              <a:t> → CPU workload forecasting.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3. AIOps Orchestrator (FastAPI)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— loads all models, exposes REST endpoints.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4. Predictive Autoscaler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— decision engine → Kubernetes Python client.</a:t>
            </a:r>
          </a:p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Scaling actions change cluster state → new metrics </a:t>
            </a:r>
            <a:r>
              <a:rPr sz="1700" b="1" i="0">
                <a:solidFill>
                  <a:srgbClr val="1F3864"/>
                </a:solidFill>
                <a:latin typeface="Calibri"/>
              </a:rPr>
              <a:t>feed back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into the next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Methodology: Data Pipeline &amp;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Synthetic training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600 Jenkins builds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— 68% SUCCESS, 23% FAILURE, 9% UNSTABLE.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600 console logs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with class-distinctive vocabulary.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10,080 CPU points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— daily / weekly patterns + noise + spikes.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Reproducible, with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labelled ground truth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for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Calibri"/>
              </a:rPr>
              <a:t>Live data-collection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Jenkins REST collector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— build metadata + console logs.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Prometheus collector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— CPU / memory queries.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Real-time streaming collector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with configurable interval.</a:t>
            </a:r>
          </a:p>
          <a:p>
            <a:pPr algn="l">
              <a:spcAft>
                <a:spcPts val="1000"/>
              </a:spcAft>
            </a:pPr>
            <a:r>
              <a:rPr sz="1650" b="1" i="0">
                <a:solidFill>
                  <a:srgbClr val="2E5496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Same pipeline works against </a:t>
            </a:r>
            <a:r>
              <a:rPr sz="1650" b="1" i="0">
                <a:solidFill>
                  <a:srgbClr val="1F3864"/>
                </a:solidFill>
                <a:latin typeface="Calibri"/>
              </a:rPr>
              <a:t>real Jenkins / Prometheus</a:t>
            </a:r>
            <a:r>
              <a:rPr sz="1650" b="0" i="0">
                <a:solidFill>
                  <a:srgbClr val="262626"/>
                </a:solidFill>
                <a:latin typeface="Calibri"/>
              </a:rPr>
              <a:t> instances.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325880"/>
            <a:ext cx="10972" cy="3200400"/>
          </a:xfrm>
          <a:prstGeom prst="rect">
            <a:avLst/>
          </a:prstGeom>
          <a:solidFill>
            <a:srgbClr val="C8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Model 1: XGBoost — Failure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6126480" cy="1687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Gradient-boosted ensemble of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100 trees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Input: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8 build features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— duration, warnings, errors, failures, log length, tests failed / passed / total.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Output: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failure probability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(0–1). </a:t>
            </a:r>
            <a:endParaRPr lang="en-IN" sz="1550" b="0" i="0" dirty="0">
              <a:solidFill>
                <a:srgbClr val="262626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80/20 stratified split +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5-fold cross-validation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CV F1 =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0.975 ± 0.009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→ stable, no overfitting.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848703"/>
              </p:ext>
            </p:extLst>
          </p:nvPr>
        </p:nvGraphicFramePr>
        <p:xfrm>
          <a:off x="6949440" y="1234440"/>
          <a:ext cx="4709160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99.2%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F3864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xgboo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71" y="3913632"/>
            <a:ext cx="2798063" cy="2331720"/>
          </a:xfrm>
          <a:prstGeom prst="rect">
            <a:avLst/>
          </a:prstGeom>
        </p:spPr>
      </p:pic>
      <p:pic>
        <p:nvPicPr>
          <p:cNvPr id="11" name="Picture 10" descr="xgboost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415" y="3913632"/>
            <a:ext cx="3264408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56616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1">
                <a:solidFill>
                  <a:srgbClr val="595959"/>
                </a:solidFill>
                <a:latin typeface="Calibri"/>
              </a:rPr>
              <a:t>Feature importance confirms real signal: test results and error counts dominate — consistent with empirical CI studies.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Model 2: TF-IDF + Autoencoder — Log Anomaly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6126480" cy="1751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Two-stage, fully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unsupervised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pipeline (no labels needed).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Stage 1: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TF-IDF vectorization — 500 features, n-gram 1–2.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Stage 2: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Autoencoder 500 → 128 → 64 →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32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→ 64 → 128 → 500.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Trained on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normal logs only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— learns what “normal” looks like.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Anomaly =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high reconstruction error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(MSE above threshold).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Threshold = 95th percentile of normal reconstruction errors.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18936"/>
              </p:ext>
            </p:extLst>
          </p:nvPr>
        </p:nvGraphicFramePr>
        <p:xfrm>
          <a:off x="6949440" y="1234440"/>
          <a:ext cx="4709160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96.7%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87.1%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F3864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anomaly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699" y="3913632"/>
            <a:ext cx="2798063" cy="2331720"/>
          </a:xfrm>
          <a:prstGeom prst="rect">
            <a:avLst/>
          </a:prstGeom>
        </p:spPr>
      </p:pic>
      <p:pic>
        <p:nvPicPr>
          <p:cNvPr id="11" name="Picture 10" descr="anomaly_error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243" y="3913632"/>
            <a:ext cx="3730752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56616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1">
                <a:solidFill>
                  <a:srgbClr val="595959"/>
                </a:solidFill>
                <a:latin typeface="Calibri"/>
              </a:rPr>
              <a:t>Error distribution shows clean separation between normal and anomalous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Model 3: LSTM — CPU Workload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6126480" cy="1926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Input: last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60 minutes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of CPU usage (sliding window).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Output: CPU usage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10 minutes ahead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— the lead time the </a:t>
            </a:r>
            <a:r>
              <a:rPr sz="1550" b="0" i="0" dirty="0" err="1">
                <a:solidFill>
                  <a:srgbClr val="262626"/>
                </a:solidFill>
                <a:latin typeface="Calibri"/>
              </a:rPr>
              <a:t>autoscaler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needs.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Architecture: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LSTM(128) → LSTM(64) → Dense(32, </a:t>
            </a:r>
            <a:r>
              <a:rPr sz="1550" b="1" i="0" dirty="0" err="1">
                <a:solidFill>
                  <a:srgbClr val="1F3864"/>
                </a:solidFill>
                <a:latin typeface="Calibri"/>
              </a:rPr>
              <a:t>ReLU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) → Dense(1)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with dropout. </a:t>
            </a:r>
            <a:endParaRPr lang="en-IN" sz="1550" b="0" i="0" dirty="0">
              <a:solidFill>
                <a:srgbClr val="262626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lang="en-IN" sz="1550" b="1" i="0" dirty="0">
                <a:solidFill>
                  <a:srgbClr val="2E5496"/>
                </a:solidFill>
                <a:latin typeface="Calibri"/>
              </a:rPr>
              <a:t>▪</a:t>
            </a:r>
            <a:r>
              <a:rPr lang="en-US" sz="1550" b="1" i="0" dirty="0">
                <a:solidFill>
                  <a:srgbClr val="2E5496"/>
                </a:solidFill>
                <a:latin typeface="Calibri"/>
              </a:rPr>
              <a:t>  </a:t>
            </a:r>
            <a:r>
              <a:rPr lang="en-US" sz="1550" b="0" i="0" dirty="0">
                <a:solidFill>
                  <a:srgbClr val="262626"/>
                </a:solidFill>
                <a:latin typeface="Calibri"/>
              </a:rPr>
              <a:t>MAPE </a:t>
            </a:r>
            <a:r>
              <a:rPr lang="en-US" sz="1550" b="1" i="0" dirty="0">
                <a:solidFill>
                  <a:srgbClr val="1F3864"/>
                </a:solidFill>
                <a:latin typeface="Calibri"/>
              </a:rPr>
              <a:t>9.68%</a:t>
            </a:r>
            <a:r>
              <a:rPr lang="en-US" sz="1550" b="0" i="0" dirty="0">
                <a:solidFill>
                  <a:srgbClr val="262626"/>
                </a:solidFill>
                <a:latin typeface="Calibri"/>
              </a:rPr>
              <a:t> — under the 10% rule-of-thumb for good forecasts.</a:t>
            </a:r>
          </a:p>
          <a:p>
            <a:pPr algn="l">
              <a:spcAft>
                <a:spcPts val="500"/>
              </a:spcAft>
            </a:pPr>
            <a:r>
              <a:rPr sz="15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Model tracks the </a:t>
            </a:r>
            <a:r>
              <a:rPr sz="1550" b="1" i="0" dirty="0">
                <a:solidFill>
                  <a:srgbClr val="1F3864"/>
                </a:solidFill>
                <a:latin typeface="Calibri"/>
              </a:rPr>
              <a:t>trend</a:t>
            </a:r>
            <a:r>
              <a:rPr sz="1550" b="0" i="0" dirty="0">
                <a:solidFill>
                  <a:srgbClr val="262626"/>
                </a:solidFill>
                <a:latin typeface="Calibri"/>
              </a:rPr>
              <a:t> and smooths unpredictable spikes.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880455"/>
              </p:ext>
            </p:extLst>
          </p:nvPr>
        </p:nvGraphicFramePr>
        <p:xfrm>
          <a:off x="6949440" y="1234440"/>
          <a:ext cx="470916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0.0049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0.0433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3864"/>
                          </a:solidFill>
                          <a:latin typeface="Calibri"/>
                        </a:rPr>
                        <a:t>0.0698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F3864"/>
                          </a:solidFill>
                          <a:latin typeface="Calibri"/>
                        </a:rPr>
                        <a:t>9.68%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lstm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183" y="3913632"/>
            <a:ext cx="5596127" cy="2331720"/>
          </a:xfrm>
          <a:prstGeom prst="rect">
            <a:avLst/>
          </a:prstGeom>
        </p:spPr>
      </p:pic>
      <p:pic>
        <p:nvPicPr>
          <p:cNvPr id="11" name="Picture 10" descr="lstm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791" y="3913632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Combined Model Performance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64808"/>
            <a:ext cx="640080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225555"/>
              </p:ext>
            </p:extLst>
          </p:nvPr>
        </p:nvGraphicFramePr>
        <p:xfrm>
          <a:off x="1935327" y="1330876"/>
          <a:ext cx="8321040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Key Metric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Failure Prediction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F3864"/>
                          </a:solidFill>
                          <a:latin typeface="Calibri"/>
                        </a:rPr>
                        <a:t>F1 = 0.982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Anomaly Detection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TF-IDF + Autoencoder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F3864"/>
                          </a:solidFill>
                          <a:latin typeface="Calibri"/>
                        </a:rPr>
                        <a:t>F1 = 0.931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CPU Forecasting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1F3864"/>
                          </a:solidFill>
                          <a:latin typeface="Calibri"/>
                        </a:rPr>
                        <a:t>RMSE = 0.070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model_comparison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147" y="3246120"/>
            <a:ext cx="5867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System Integration: FastAPI Orchestrator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6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852160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A </a:t>
            </a:r>
            <a:r>
              <a:rPr sz="1750" b="1" i="0" dirty="0">
                <a:solidFill>
                  <a:srgbClr val="1F3864"/>
                </a:solidFill>
                <a:latin typeface="Calibri"/>
              </a:rPr>
              <a:t>single </a:t>
            </a:r>
            <a:r>
              <a:rPr sz="1750" b="1" i="0" dirty="0" err="1">
                <a:solidFill>
                  <a:srgbClr val="1F3864"/>
                </a:solidFill>
                <a:latin typeface="Calibri"/>
              </a:rPr>
              <a:t>FastAPI</a:t>
            </a:r>
            <a:r>
              <a:rPr sz="1750" b="1" i="0" dirty="0">
                <a:solidFill>
                  <a:srgbClr val="1F3864"/>
                </a:solidFill>
                <a:latin typeface="Calibri"/>
              </a:rPr>
              <a:t> service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 loads all three models into memory at startup and serves them via REST.</a:t>
            </a:r>
          </a:p>
          <a:p>
            <a:pPr algn="l">
              <a:spcAft>
                <a:spcPts val="1200"/>
              </a:spcAft>
            </a:pPr>
            <a:r>
              <a:rPr sz="17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750" b="1" i="0" dirty="0">
                <a:solidFill>
                  <a:srgbClr val="1F3864"/>
                </a:solidFill>
                <a:latin typeface="Calibri"/>
              </a:rPr>
              <a:t>Async endpoints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 with typed </a:t>
            </a:r>
            <a:r>
              <a:rPr sz="1750" b="0" i="0" dirty="0" err="1">
                <a:solidFill>
                  <a:srgbClr val="262626"/>
                </a:solidFill>
                <a:latin typeface="Calibri"/>
              </a:rPr>
              <a:t>Pydantic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 request / response schemas.</a:t>
            </a:r>
          </a:p>
          <a:p>
            <a:pPr algn="l">
              <a:spcAft>
                <a:spcPts val="1200"/>
              </a:spcAft>
            </a:pPr>
            <a:r>
              <a:rPr sz="17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Models cached in memory → </a:t>
            </a:r>
            <a:r>
              <a:rPr sz="1750" b="1" i="0" dirty="0">
                <a:solidFill>
                  <a:srgbClr val="1F3864"/>
                </a:solidFill>
                <a:latin typeface="Calibri"/>
              </a:rPr>
              <a:t>millisecond-scale inference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7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Live </a:t>
            </a:r>
            <a:r>
              <a:rPr sz="1750" b="1" i="0" dirty="0">
                <a:solidFill>
                  <a:srgbClr val="1F3864"/>
                </a:solidFill>
                <a:latin typeface="Calibri"/>
              </a:rPr>
              <a:t>Swagger UI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 at /docs for interactive testing.</a:t>
            </a:r>
          </a:p>
          <a:p>
            <a:pPr algn="l">
              <a:spcAft>
                <a:spcPts val="1200"/>
              </a:spcAft>
            </a:pPr>
            <a:r>
              <a:rPr sz="17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750" b="0" i="0" dirty="0">
                <a:solidFill>
                  <a:srgbClr val="262626"/>
                </a:solidFill>
                <a:latin typeface="Calibri"/>
              </a:rPr>
              <a:t>Health checks + graceful startup / shutdown via lifespan events.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20840" y="1508760"/>
          <a:ext cx="49377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REST Endpoint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Backed by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POST  /predict_failure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POST  /detect_anomaly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Autoencoder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POST  /forecast_cpu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POST  /autoscale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Decision Engine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20840" y="4892040"/>
            <a:ext cx="4937760" cy="91440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0" i="0">
                <a:solidFill>
                  <a:srgbClr val="1F3864"/>
                </a:solidFill>
                <a:latin typeface="Calibri"/>
              </a:rPr>
              <a:t>One unified API layer connects </a:t>
            </a:r>
            <a:r>
              <a:rPr sz="1500" b="1" i="0">
                <a:solidFill>
                  <a:srgbClr val="1F3864"/>
                </a:solidFill>
                <a:latin typeface="Calibri"/>
              </a:rPr>
              <a:t>models → decisions → Kubernetes actions</a:t>
            </a:r>
            <a:r>
              <a:rPr sz="1500" b="0" i="0">
                <a:solidFill>
                  <a:srgbClr val="1F386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Predictive Autoscaler — Decision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7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Calibri"/>
              </a:rPr>
              <a:t>Priority-based policy (each scaling 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577840" cy="28803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BF9000"/>
                </a:solidFill>
                <a:latin typeface="Calibri"/>
              </a:rPr>
              <a:t>1.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Anomaly detected →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raise ALERT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(non-blocking).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BF9000"/>
                </a:solidFill>
                <a:latin typeface="Calibri"/>
              </a:rPr>
              <a:t>2.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Failure probability &gt; 0.6 →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HOLD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 — don’t scale a likely-failing build.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BF9000"/>
                </a:solidFill>
                <a:latin typeface="Calibri"/>
              </a:rPr>
              <a:t>3.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Predicted CPU ≥ 0.7 →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SCALE UP (+2 replicas)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BF9000"/>
                </a:solidFill>
                <a:latin typeface="Calibri"/>
              </a:rPr>
              <a:t>4.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Predicted CPU ≤ 0.3 →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SCALE DOWN (−1 replica)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BF9000"/>
                </a:solidFill>
                <a:latin typeface="Calibri"/>
              </a:rPr>
              <a:t>5. 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Otherwise →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MAINTAIN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Calibri"/>
              </a:rPr>
              <a:t>Why predictive? (vs. Kubernetes HPA)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1691640"/>
          <a:ext cx="516636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HPA (reactive)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Current CPU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3864"/>
                          </a:solidFill>
                          <a:latin typeface="Calibri"/>
                        </a:rPr>
                        <a:t>Forecast (t + 10 min)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After the spike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3864"/>
                          </a:solidFill>
                          <a:latin typeface="Calibri"/>
                        </a:rPr>
                        <a:t>Before the spike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CPU only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3864"/>
                          </a:solidFill>
                          <a:latin typeface="Calibri"/>
                        </a:rPr>
                        <a:t>CPU + failures + log anomalies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CI/CD aware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1F3864"/>
                          </a:solidFill>
                          <a:latin typeface="Calibri"/>
                        </a:rPr>
                        <a:t>Yes (HOLD rule)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92240" y="5120640"/>
            <a:ext cx="5166360" cy="86868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50" b="0" i="0">
                <a:solidFill>
                  <a:srgbClr val="1F3864"/>
                </a:solidFill>
                <a:latin typeface="Calibri"/>
              </a:rPr>
              <a:t>The 10-minute forecast gives Kubernetes </a:t>
            </a:r>
            <a:r>
              <a:rPr sz="1450" b="1" i="0">
                <a:solidFill>
                  <a:srgbClr val="1F3864"/>
                </a:solidFill>
                <a:latin typeface="Calibri"/>
              </a:rPr>
              <a:t>lead time</a:t>
            </a:r>
            <a:r>
              <a:rPr sz="1450" b="0" i="0">
                <a:solidFill>
                  <a:srgbClr val="1F3864"/>
                </a:solidFill>
                <a:latin typeface="Calibri"/>
              </a:rPr>
              <a:t> to add pods </a:t>
            </a:r>
            <a:r>
              <a:rPr sz="1450" b="1" i="0">
                <a:solidFill>
                  <a:srgbClr val="1F3864"/>
                </a:solidFill>
                <a:latin typeface="Calibri"/>
              </a:rPr>
              <a:t>before</a:t>
            </a:r>
            <a:r>
              <a:rPr sz="1450" b="0" i="0">
                <a:solidFill>
                  <a:srgbClr val="1F3864"/>
                </a:solidFill>
                <a:latin typeface="Calibri"/>
              </a:rPr>
              <a:t> the load arrives.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Comparison with 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100" b="1" dirty="0">
                <a:solidFill>
                  <a:srgbClr val="FFFFFF"/>
                </a:solidFill>
                <a:latin typeface="Calibri"/>
              </a:rPr>
              <a:t>18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908791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Failure Pred.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Log Anomaly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Predictive Scaling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Closed Loop</a:t>
                      </a:r>
                    </a:p>
                  </a:txBody>
                  <a:tcPr marL="73152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DeepLog / log-based detection (Du et al.)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Guruge &amp; Priyadarshana (2025)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Da Silva et al. (2025)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Zota et al. (2025, agentic AIOps)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C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1F3864"/>
                          </a:solidFill>
                          <a:latin typeface="Calibri"/>
                        </a:rPr>
                        <a:t>Proposed Framework</a:t>
                      </a:r>
                    </a:p>
                  </a:txBody>
                  <a:tcPr marL="73152" marR="54864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>
                          <a:solidFill>
                            <a:srgbClr val="1E7B34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371600" y="5166360"/>
            <a:ext cx="9448495" cy="731520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50" b="0" i="0" dirty="0">
                <a:solidFill>
                  <a:srgbClr val="1F3864"/>
                </a:solidFill>
                <a:latin typeface="Calibri"/>
              </a:rPr>
              <a:t>The proposed framework is the </a:t>
            </a:r>
            <a:r>
              <a:rPr sz="1650" b="1" i="0" dirty="0">
                <a:solidFill>
                  <a:srgbClr val="1F3864"/>
                </a:solidFill>
                <a:latin typeface="Calibri"/>
              </a:rPr>
              <a:t>only one integrating all four capabilities</a:t>
            </a:r>
            <a:r>
              <a:rPr sz="1650" b="0" i="0" dirty="0">
                <a:solidFill>
                  <a:srgbClr val="1F3864"/>
                </a:solidFill>
                <a:latin typeface="Calibri"/>
              </a:rPr>
              <a:t> in a single closed-loop architecture.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100" b="1" dirty="0">
                <a:solidFill>
                  <a:srgbClr val="FFFFFF"/>
                </a:solidFill>
                <a:latin typeface="Calibri"/>
              </a:rPr>
              <a:t>19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2426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Built a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unified, closed-loop AIOps framework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: three ML models + </a:t>
            </a:r>
            <a:r>
              <a:rPr sz="1850" b="0" i="0" dirty="0" err="1">
                <a:solidFill>
                  <a:srgbClr val="262626"/>
                </a:solidFill>
                <a:latin typeface="Calibri"/>
              </a:rPr>
              <a:t>FastAPI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orchestrator + predictive Kubernetes </a:t>
            </a:r>
            <a:r>
              <a:rPr sz="1850" b="0" i="0" dirty="0" err="1">
                <a:solidFill>
                  <a:srgbClr val="262626"/>
                </a:solidFill>
                <a:latin typeface="Calibri"/>
              </a:rPr>
              <a:t>autoscaler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1" i="0" dirty="0" err="1">
                <a:solidFill>
                  <a:srgbClr val="1F3864"/>
                </a:solidFill>
                <a:latin typeface="Calibri"/>
              </a:rPr>
              <a:t>XGBoost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predicts build failures </a:t>
            </a:r>
            <a:r>
              <a:rPr lang="en-IN" sz="1850" b="0" i="0" dirty="0">
                <a:solidFill>
                  <a:srgbClr val="262626"/>
                </a:solidFill>
                <a:latin typeface="Calibri"/>
              </a:rPr>
              <a:t>: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F1 = 0.982</a:t>
            </a:r>
            <a:endParaRPr sz="1850" b="0" i="0" dirty="0">
              <a:solidFill>
                <a:srgbClr val="262626"/>
              </a:solidFill>
              <a:latin typeface="Calibri"/>
            </a:endParaRPr>
          </a:p>
          <a:p>
            <a:pPr algn="l">
              <a:spcAft>
                <a:spcPts val="14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TF-IDF + Autoencoder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detects log anomalies unsupervised </a:t>
            </a:r>
            <a:r>
              <a:rPr lang="en-IN" sz="1850" b="0" i="0" dirty="0">
                <a:solidFill>
                  <a:srgbClr val="262626"/>
                </a:solidFill>
                <a:latin typeface="Calibri"/>
              </a:rPr>
              <a:t>: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F1 = 0.931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LSTM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forecasts CPU —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RMSE = 0.070, MAPE = 9.68%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— enabling proactive scaling.</a:t>
            </a:r>
          </a:p>
          <a:p>
            <a:pPr algn="l">
              <a:spcAft>
                <a:spcPts val="14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Predictive autoscaling acts on forecasts, overcoming the lag of reactive Kubernetes HPA.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  <a:latin typeface="Calibri"/>
              </a:rPr>
              <a:t>2</a:t>
            </a:r>
            <a:r>
              <a:rPr lang="en-IN" sz="1100" b="1" dirty="0">
                <a:solidFill>
                  <a:srgbClr val="FFFFFF"/>
                </a:solidFill>
                <a:latin typeface="Calibri"/>
              </a:rPr>
              <a:t>0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85855" cy="2669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Validate on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real-world CI/CD datasets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and live Jenkins / Prometheus data.</a:t>
            </a:r>
          </a:p>
          <a:p>
            <a:pPr algn="l">
              <a:spcAft>
                <a:spcPts val="15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Add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automatic retraining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to handle concept drift as pipelines evolve.</a:t>
            </a:r>
          </a:p>
          <a:p>
            <a:pPr algn="l">
              <a:spcAft>
                <a:spcPts val="15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Replace TF-IDF with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transformer-based log embeddings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(e.g. </a:t>
            </a:r>
            <a:r>
              <a:rPr sz="1850" b="0" i="0" dirty="0" err="1">
                <a:solidFill>
                  <a:srgbClr val="262626"/>
                </a:solidFill>
                <a:latin typeface="Calibri"/>
              </a:rPr>
              <a:t>LogBERT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) for richer context.</a:t>
            </a:r>
          </a:p>
          <a:p>
            <a:pPr algn="l">
              <a:spcAft>
                <a:spcPts val="15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Benchmark against Kubernetes HPA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under production-scale load.</a:t>
            </a:r>
          </a:p>
          <a:p>
            <a:pPr algn="l">
              <a:spcAft>
                <a:spcPts val="15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Build a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monitoring dashboard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for predictions, alerts and scaling actions.</a:t>
            </a:r>
          </a:p>
          <a:p>
            <a:pPr algn="l">
              <a:spcAft>
                <a:spcPts val="1500"/>
              </a:spcAft>
            </a:pPr>
            <a:r>
              <a:rPr sz="1850" b="1" i="0" dirty="0">
                <a:solidFill>
                  <a:srgbClr val="2E5496"/>
                </a:solidFill>
                <a:latin typeface="Calibri"/>
              </a:rPr>
              <a:t>▪  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Extend to </a:t>
            </a:r>
            <a:r>
              <a:rPr sz="1850" b="1" i="0" dirty="0">
                <a:solidFill>
                  <a:srgbClr val="1F3864"/>
                </a:solidFill>
                <a:latin typeface="Calibri"/>
              </a:rPr>
              <a:t>multi-service dependencies</a:t>
            </a:r>
            <a:r>
              <a:rPr sz="1850" b="0" i="0" dirty="0">
                <a:solidFill>
                  <a:srgbClr val="262626"/>
                </a:solidFill>
                <a:latin typeface="Calibri"/>
              </a:rPr>
              <a:t> and memory / network forecasting.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561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900" b="1" i="0">
                <a:solidFill>
                  <a:srgbClr val="1F3864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185855" cy="3200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732" y="109728"/>
            <a:ext cx="638311" cy="786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  <a:latin typeface="Calibri"/>
              </a:rPr>
              <a:t>2</a:t>
            </a: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1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[1]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I. Pintye et al., “Enhancing ML-Based Autoscaling for Cloud Resource Orchestration,” Journal of Grid Computing, 2024.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[2]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P. B. Guruge and Y. H. P. P. Priyadarshana, “Time-Series Forecasting-Based Kubernetes Autoscaling Using Prophet and LSTM,” Frontiers in Computer Science, 2025.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[3]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M. A. Yahya et al., “Deep Learning for Multivariate Time-Series Anomaly Detection: A Survey,” Artificial Intelligence Review, 2025.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[4]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A. Hrusto, “Towards Optimization of Anomaly Detection in DevOps,” Information and Software Technology, 2023.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[5]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P. Mathew and A. Baswareddy, “Predictive Failure Analysis in CI Pipelines Using Ensemble Trees,” IJACS, 2025.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[6]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M. Du et al., “DeepLog: Anomaly Detection and Diagnosis from System Logs,” ACM CCS, 2017.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[7]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Y. Zota et al., “A Practical Framework for Agentic AIOps,” 2025.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[8]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Kubernetes Documentation, “Horizontal Pod Autoscaler,” 2024.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2895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i="0">
                <a:solidFill>
                  <a:srgbClr val="1F3864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4572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Tejas Annasaheb Jagtap  •  M.Tech (Information Security)  •  COEP Technological University, Pune</a:t>
            </a:r>
          </a:p>
        </p:txBody>
      </p:sp>
      <p:pic>
        <p:nvPicPr>
          <p:cNvPr id="7" name="Picture 6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069" y="822960"/>
            <a:ext cx="853556" cy="1051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64808"/>
            <a:ext cx="12191695" cy="393191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464808"/>
            <a:ext cx="10820095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Department of Computer Science and Engineering  |  COEP Technological University, Pune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76765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  <a:latin typeface="Calibri"/>
              </a:rPr>
              <a:t>2</a:t>
            </a: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2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2344</Words>
  <Application>Microsoft Office PowerPoint</Application>
  <PresentationFormat>Widescreen</PresentationFormat>
  <Paragraphs>317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Tejas Jagtap</cp:lastModifiedBy>
  <cp:revision>4</cp:revision>
  <dcterms:created xsi:type="dcterms:W3CDTF">2013-01-27T09:14:16Z</dcterms:created>
  <dcterms:modified xsi:type="dcterms:W3CDTF">2026-07-04T15:16:15Z</dcterms:modified>
  <cp:category/>
</cp:coreProperties>
</file>