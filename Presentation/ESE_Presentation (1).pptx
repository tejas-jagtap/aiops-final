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8" r:id="rId5"/>
    <p:sldId id="260" r:id="rId6"/>
    <p:sldId id="267" r:id="rId7"/>
    <p:sldId id="261" r:id="rId8"/>
    <p:sldId id="262" r:id="rId9"/>
    <p:sldId id="263" r:id="rId10"/>
    <p:sldId id="264" r:id="rId11"/>
    <p:sldId id="269" r:id="rId12"/>
    <p:sldId id="270" r:id="rId13"/>
    <p:sldId id="271" r:id="rId14"/>
    <p:sldId id="265" r:id="rId15"/>
    <p:sldId id="26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0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0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3723B-1EFE-41EE-BDA4-8391E0879300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D3B8FA-12AA-48CD-ACE4-2347EAD57E9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3681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3EF1F-E38F-874E-890F-D831BF5C2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423063-52A7-F4D4-EF95-6C36AD1F24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C787C-6092-E42C-644E-D8ADC94B1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5F883-8207-4A42-B7F8-70EFB319B300}" type="datetime1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C98F5-5681-7632-5B5F-93FC24528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B0713-C1CF-B22D-7823-860905CDF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320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9762D-CD09-2C49-8EAE-FF98F84572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1679D-B789-6D00-F902-FD76E7C6B7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16778-9F31-378D-157D-F6F6D243F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260E9-AA1F-48EA-8DE1-DF9FC6D2C327}" type="datetime1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49E08E-256B-0524-88B4-E8DA35A7A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7DFA2-A612-76C9-03B2-DE7997BF4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2659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5D229-8F08-6E57-F746-B00C3EE18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A0850-3FB9-DB42-E3D5-450FAB654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35149-F99B-AE49-A87F-DB1E55314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C6C8F-B8E1-463C-82CF-A84642FBBBA5}" type="datetime1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90A3D-44EE-14DD-D194-D3320D397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A9B7-118C-E52A-63A3-812C8DA957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80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0D5C-16AA-28EB-BF2C-E526C4F97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ED3F3-DFB4-17DD-7079-B796FFAA43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38C396-C09D-B691-4CC0-EC5B5963A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3B820F-3250-C5AD-91C0-9A0E563F6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3B0E31-018D-4348-9C75-355DB2803615}" type="datetime1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71DF79-9E42-AD1E-4EB0-C36058417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DF02C-AF76-F913-2B56-F89F3F377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349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BC209-4DFA-C6B6-3C01-FD4045251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F1A15-9CB5-30AD-D1C0-7958FF8D2B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155F4A-DA89-31E6-C6AD-73406616B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1B8F8A-89D6-8F8F-ECC6-E372000380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F12F15-96B3-72E3-B802-B2F5B616DC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3AD097-E75D-D8C6-51C1-8534F6516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8E65D-F896-4649-9882-CFC187AC5965}" type="datetime1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BF72A9-1588-985D-C254-4F56410F1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E70287-DBA0-8742-3D81-7A9B2AA1C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284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3C996-6CF0-2D0B-4FA7-7A3520AD9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D8B6C6-7313-C16F-92EB-53DAD9F8D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8F3A8F-5DB5-4670-82AF-676CCC92EFB6}" type="datetime1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9770C6-7E35-4027-E9F5-ACA317673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5F62DC-0DCD-DE72-F4B7-5F5A579C8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495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A57238-1693-99D2-1FFA-D154D2CD6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2A38C-66CD-441C-874C-B493E2C76624}" type="datetime1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D7DB6C-967A-EF65-CCD0-B86EDF127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BCC210-9110-F096-6683-1D0D53793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4716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94DD-082A-00A7-8F32-ADFB36E8F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08C83-44CF-6C93-809F-B2501ADBF5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310CB0-7723-21AA-512E-DB19888FF2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FFD5C9-415E-7EFB-0E01-74940BADE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46FEC-936E-4B06-8585-C4ED5077816F}" type="datetime1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FBDAC1-D8B5-0E09-E378-87A5E2FA0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F4470D-83FB-83DC-B621-35B052D87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6348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DB0A4-60CC-4AC1-EF44-A4FE2C624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042953-B615-7B96-7975-91A1833374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AB9F22-B76A-2CE0-60DF-0767C8E08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BC6C3-5739-D26B-115F-5B97A1FB9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27B9E-6EC7-4BE9-AA9D-0D0E555473BC}" type="datetime1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E47809-C886-24EB-F5F5-9C3FFB19A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7B7E7D-D06C-2B06-A0F4-EC4CE328C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6420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4805F-8E36-B91E-2412-642D27D88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9F9074-809F-7883-12F2-89C69F387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A28481-6843-3017-F616-D74DD03B8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4472C-C8C6-4CFD-B071-A207B60DAE7A}" type="datetime1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BEC55-E0A6-1FDA-6492-4DC82F422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6D2DF-3CF3-B757-60B8-3EEAC260A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5884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A30EDD-3BF0-EE94-7C2F-E557B89D76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50367-4E93-F600-ACA0-7EF45B0D34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ABE3C-7CED-05E8-CA0E-14A8C25BE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311F4-4B6A-4E42-A00D-72DE737E578A}" type="datetime1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FDA80-5087-FA63-AECF-56DE6757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99565-76B3-850A-800C-DF1EB58D6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98797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D5A77B-18F6-18F8-F5C2-73DDD5AD4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910AB-F107-2441-134C-F37CEAA9E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3558D-0271-1EC3-303B-EF9DFE1E96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834AC-05E8-4267-AF5B-7C99039C4523}" type="datetime1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C1470-956D-2DEE-013C-CD68E527CD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3D9C8-C522-8A84-42CA-903B080E08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C9D4-4648-4F9B-8F96-37C2084FE60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60436A-4D11-8328-E0ED-0FDD794CAB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1469688" y="63500"/>
            <a:ext cx="687387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KONE Internal</a:t>
            </a:r>
          </a:p>
        </p:txBody>
      </p:sp>
    </p:spTree>
    <p:extLst>
      <p:ext uri="{BB962C8B-B14F-4D97-AF65-F5344CB8AC3E}">
        <p14:creationId xmlns:p14="http://schemas.microsoft.com/office/powerpoint/2010/main" val="2531707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9A760-D50F-CCA5-EC2E-B6F753EF34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1554" y="382078"/>
            <a:ext cx="10488891" cy="2078317"/>
          </a:xfrm>
        </p:spPr>
        <p:txBody>
          <a:bodyPr>
            <a:noAutofit/>
          </a:bodyPr>
          <a:lstStyle/>
          <a:p>
            <a:r>
              <a:rPr lang="en-US" sz="4000" b="1" dirty="0"/>
              <a:t>Intelligent AIOps Framework for Predictive CI/CD</a:t>
            </a:r>
            <a:br>
              <a:rPr lang="en-US" sz="4000" b="1" dirty="0"/>
            </a:br>
            <a:r>
              <a:rPr lang="en-US" sz="4000" b="1" dirty="0"/>
              <a:t>Pipeline Management and Autonomous Resource</a:t>
            </a:r>
            <a:br>
              <a:rPr lang="en-US" sz="4000" b="1" dirty="0"/>
            </a:br>
            <a:r>
              <a:rPr lang="en-US" sz="4000" b="1" dirty="0"/>
              <a:t>Optimization</a:t>
            </a: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831B70-9E81-F0F2-9EDA-8977666F8D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888997"/>
            <a:ext cx="9144000" cy="1371918"/>
          </a:xfrm>
        </p:spPr>
        <p:txBody>
          <a:bodyPr/>
          <a:lstStyle/>
          <a:p>
            <a:r>
              <a:rPr lang="en-US" dirty="0"/>
              <a:t>Tejas </a:t>
            </a:r>
            <a:r>
              <a:rPr lang="en-US" dirty="0" err="1"/>
              <a:t>Annasaheb</a:t>
            </a:r>
            <a:r>
              <a:rPr lang="en-US" dirty="0"/>
              <a:t> Jagtap</a:t>
            </a:r>
          </a:p>
          <a:p>
            <a:r>
              <a:rPr lang="en-US" dirty="0"/>
              <a:t>MTech Information Security</a:t>
            </a:r>
          </a:p>
          <a:p>
            <a:r>
              <a:rPr lang="en-US" dirty="0"/>
              <a:t>712442021</a:t>
            </a:r>
            <a:endParaRPr lang="en-IN" dirty="0"/>
          </a:p>
        </p:txBody>
      </p:sp>
      <p:pic>
        <p:nvPicPr>
          <p:cNvPr id="4" name="Picture 7" descr="A picture containing logo, text, emblem, symbol&#10;&#10;Description automatically generated">
            <a:extLst>
              <a:ext uri="{FF2B5EF4-FFF2-40B4-BE49-F238E27FC236}">
                <a16:creationId xmlns:a16="http://schemas.microsoft.com/office/drawing/2014/main" id="{B9BA7BC1-97E8-BCB4-0C43-8D1D757DC828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4040" y="5662800"/>
            <a:ext cx="1283400" cy="1173960"/>
          </a:xfrm>
          <a:prstGeom prst="rect">
            <a:avLst/>
          </a:prstGeom>
          <a:ln w="0">
            <a:noFill/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2B4071D0-4409-7420-2226-8C7B8E39078E}"/>
              </a:ext>
            </a:extLst>
          </p:cNvPr>
          <p:cNvSpPr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203864"/>
                </a:solidFill>
                <a:latin typeface="Times New Roman"/>
                <a:ea typeface="DejaVu Sans"/>
              </a:rPr>
              <a:t>Dept of Computer Science and Engineering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203864"/>
                </a:solidFill>
                <a:latin typeface="Times New Roman"/>
                <a:ea typeface="DejaVu Sans"/>
              </a:rPr>
              <a:t>COEP Technological University, Pune</a:t>
            </a:r>
            <a:endParaRPr lang="en-IN" sz="2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IN" sz="1800" b="0" strike="noStrike" spc="-1" dirty="0"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7F2755-1017-8254-8078-B532E01764D6}"/>
              </a:ext>
            </a:extLst>
          </p:cNvPr>
          <p:cNvSpPr/>
          <p:nvPr/>
        </p:nvSpPr>
        <p:spPr>
          <a:xfrm>
            <a:off x="0" y="5522314"/>
            <a:ext cx="12191400" cy="1148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1BEB9B7B-6BDD-3E91-7C59-B64B7EFD00A3}"/>
              </a:ext>
            </a:extLst>
          </p:cNvPr>
          <p:cNvSpPr txBox="1">
            <a:spLocks/>
          </p:cNvSpPr>
          <p:nvPr/>
        </p:nvSpPr>
        <p:spPr>
          <a:xfrm>
            <a:off x="1523700" y="4689517"/>
            <a:ext cx="9144000" cy="570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Guide: Dr. V. K. </a:t>
            </a:r>
            <a:r>
              <a:rPr lang="en-US" b="1" dirty="0" err="1"/>
              <a:t>Pachghare</a:t>
            </a:r>
            <a:endParaRPr lang="en-US" b="1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144EFAE-0722-6931-ECC0-B4DD25535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4958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3E32D-1AD4-CF5F-5C3C-1D62D5D94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6E61C-AB2F-CCAD-9BC2-A82451F3A1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981" y="382079"/>
            <a:ext cx="10488891" cy="827882"/>
          </a:xfrm>
        </p:spPr>
        <p:txBody>
          <a:bodyPr>
            <a:noAutofit/>
          </a:bodyPr>
          <a:lstStyle/>
          <a:p>
            <a:r>
              <a:rPr lang="en-US" sz="4000" b="1" dirty="0"/>
              <a:t>Content</a:t>
            </a:r>
            <a:endParaRPr lang="en-IN" sz="40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6C5619-B4EF-1A93-9717-1EE2E1F5DF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700" y="1209960"/>
            <a:ext cx="9144000" cy="3770721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Introduction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Literature Survey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Research Gap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Problem Statement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Research Objectives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Proposed High Level System Design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Current Implementation Status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/>
              <a:t>References</a:t>
            </a:r>
            <a:endParaRPr lang="en-IN" dirty="0"/>
          </a:p>
        </p:txBody>
      </p:sp>
      <p:pic>
        <p:nvPicPr>
          <p:cNvPr id="4" name="Picture 7" descr="A picture containing logo, text, emblem, symbol&#10;&#10;Description automatically generated">
            <a:extLst>
              <a:ext uri="{FF2B5EF4-FFF2-40B4-BE49-F238E27FC236}">
                <a16:creationId xmlns:a16="http://schemas.microsoft.com/office/drawing/2014/main" id="{A381B99F-E5FA-A81C-1EFF-CCE53186DB73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4040" y="5662800"/>
            <a:ext cx="1283400" cy="1173960"/>
          </a:xfrm>
          <a:prstGeom prst="rect">
            <a:avLst/>
          </a:prstGeom>
          <a:ln w="0">
            <a:noFill/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1AF0424E-DA26-D119-EBFE-A0548ABF165B}"/>
              </a:ext>
            </a:extLst>
          </p:cNvPr>
          <p:cNvSpPr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203864"/>
                </a:solidFill>
                <a:latin typeface="Times New Roman"/>
                <a:ea typeface="DejaVu Sans"/>
              </a:rPr>
              <a:t>Dept of Computer Science and Engineering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203864"/>
                </a:solidFill>
                <a:latin typeface="Times New Roman"/>
                <a:ea typeface="DejaVu Sans"/>
              </a:rPr>
              <a:t>COEP Technological University, Pune</a:t>
            </a:r>
            <a:endParaRPr lang="en-IN" sz="2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IN" sz="1800" b="0" strike="noStrike" spc="-1" dirty="0"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DE9E07-ACB3-6CD1-C0A2-0A6E13B26706}"/>
              </a:ext>
            </a:extLst>
          </p:cNvPr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1B6C85-8CC3-1F59-6716-05302A420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41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CE9C6-162F-4943-656D-7DB6186C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A picture containing logo, text, emblem, symbol&#10;&#10;Description automatically generated">
            <a:extLst>
              <a:ext uri="{FF2B5EF4-FFF2-40B4-BE49-F238E27FC236}">
                <a16:creationId xmlns:a16="http://schemas.microsoft.com/office/drawing/2014/main" id="{3DD6AB6A-5CE5-D7A4-B452-9DF9D36FAB9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4040" y="5662800"/>
            <a:ext cx="1283400" cy="1173960"/>
          </a:xfrm>
          <a:prstGeom prst="rect">
            <a:avLst/>
          </a:prstGeom>
          <a:ln w="0">
            <a:noFill/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2AE48B78-B125-7C82-E38C-B2198972659E}"/>
              </a:ext>
            </a:extLst>
          </p:cNvPr>
          <p:cNvSpPr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203864"/>
                </a:solidFill>
                <a:latin typeface="Times New Roman"/>
                <a:ea typeface="DejaVu Sans"/>
              </a:rPr>
              <a:t>Dept of Computer Science and Engineering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203864"/>
                </a:solidFill>
                <a:latin typeface="Times New Roman"/>
                <a:ea typeface="DejaVu Sans"/>
              </a:rPr>
              <a:t>COEP Technological University, Pune</a:t>
            </a:r>
            <a:endParaRPr lang="en-IN" sz="2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IN" sz="1800" b="0" strike="noStrike" spc="-1" dirty="0"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B79179-CC98-002E-CC6F-28275CBF2A04}"/>
              </a:ext>
            </a:extLst>
          </p:cNvPr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CB49C77-345C-9BF2-A62F-E8ECB784E0DC}"/>
              </a:ext>
            </a:extLst>
          </p:cNvPr>
          <p:cNvSpPr txBox="1">
            <a:spLocks/>
          </p:cNvSpPr>
          <p:nvPr/>
        </p:nvSpPr>
        <p:spPr>
          <a:xfrm>
            <a:off x="851253" y="117110"/>
            <a:ext cx="10488891" cy="8278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Introduction</a:t>
            </a:r>
            <a:endParaRPr lang="en-IN" sz="4000" b="1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EB1B0859-A346-2FE1-369A-9DD70091F9F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89270" y="1149378"/>
            <a:ext cx="10612859" cy="38359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Modern software systems rely heavily on continuous integration and continuous deployment (CI/CD) pipelines</a:t>
            </a:r>
          </a:p>
          <a:p>
            <a:pPr marL="342900" marR="0" lvl="0" indent="-342900" algn="just" fontAlgn="base"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These pipelines generate massive volumes of logs and metrics</a:t>
            </a:r>
          </a:p>
          <a:p>
            <a:pPr marL="342900" marR="0" lvl="0" indent="-342900" algn="just" fontAlgn="base"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DevOps teams struggle with:</a:t>
            </a:r>
          </a:p>
          <a:p>
            <a:pPr marL="800100" lvl="1" indent="-34290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/>
              <a:t>Unpredictable build failures</a:t>
            </a:r>
          </a:p>
          <a:p>
            <a:pPr marL="800100" lvl="1" indent="-34290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/>
              <a:t>Manual debugging of logs</a:t>
            </a:r>
          </a:p>
          <a:p>
            <a:pPr marL="800100" lvl="1" indent="-34290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/>
              <a:t>Reactive (not proactive) scaling decisions</a:t>
            </a:r>
          </a:p>
          <a:p>
            <a:pPr marL="342900" lvl="0" indent="-342900" algn="just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artificial intelligence for IT operations (</a:t>
            </a:r>
            <a:r>
              <a:rPr lang="en-US" altLang="en-US" dirty="0"/>
              <a:t>AIOps) integrates Machine Learning + Automation to enhance CI/CD reliability</a:t>
            </a:r>
          </a:p>
          <a:p>
            <a:pPr lvl="1" algn="just" fontAlgn="base">
              <a:spcAft>
                <a:spcPct val="0"/>
              </a:spcAft>
            </a:pPr>
            <a:endParaRPr lang="en-US" alt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DF8A31-429C-B9DE-20A6-54863717D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100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FA295-896E-C9A8-3CC9-CF0EAF086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A picture containing logo, text, emblem, symbol&#10;&#10;Description automatically generated">
            <a:extLst>
              <a:ext uri="{FF2B5EF4-FFF2-40B4-BE49-F238E27FC236}">
                <a16:creationId xmlns:a16="http://schemas.microsoft.com/office/drawing/2014/main" id="{0A9E5CA0-5FC4-9281-9570-AF4CB53FA01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4040" y="5662800"/>
            <a:ext cx="1283400" cy="1173960"/>
          </a:xfrm>
          <a:prstGeom prst="rect">
            <a:avLst/>
          </a:prstGeom>
          <a:ln w="0">
            <a:noFill/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DE38F421-75AA-7383-E9E5-FBE6EAC8C7D2}"/>
              </a:ext>
            </a:extLst>
          </p:cNvPr>
          <p:cNvSpPr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203864"/>
                </a:solidFill>
                <a:latin typeface="Times New Roman"/>
                <a:ea typeface="DejaVu Sans"/>
              </a:rPr>
              <a:t>Dept of Computer Science and Engineering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203864"/>
                </a:solidFill>
                <a:latin typeface="Times New Roman"/>
                <a:ea typeface="DejaVu Sans"/>
              </a:rPr>
              <a:t>COEP Technological University, Pune</a:t>
            </a:r>
            <a:endParaRPr lang="en-IN" sz="2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IN" sz="1800" b="0" strike="noStrike" spc="-1" dirty="0"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571A7C-D274-65B0-4464-DD6B0C21C016}"/>
              </a:ext>
            </a:extLst>
          </p:cNvPr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A91B9C2-DEC2-CF6D-DA1F-2D6C9125215E}"/>
              </a:ext>
            </a:extLst>
          </p:cNvPr>
          <p:cNvSpPr txBox="1">
            <a:spLocks/>
          </p:cNvSpPr>
          <p:nvPr/>
        </p:nvSpPr>
        <p:spPr>
          <a:xfrm>
            <a:off x="851555" y="246660"/>
            <a:ext cx="10488891" cy="8278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Motivation</a:t>
            </a:r>
            <a:endParaRPr lang="en-IN" sz="4000" b="1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FBD9982C-2335-9E5D-D4FF-FE3552BB326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89270" y="1191699"/>
            <a:ext cx="10612859" cy="3751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fontAlgn="base"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Frequent build failures lead to deployment delays</a:t>
            </a:r>
          </a:p>
          <a:p>
            <a:pPr marL="342900" marR="0" lvl="0" indent="-342900" algn="just" fontAlgn="base"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Manual root-cause analysis is slow and error-prone</a:t>
            </a:r>
          </a:p>
          <a:p>
            <a:pPr marL="342900" marR="0" lvl="0" indent="-342900" algn="just" fontAlgn="base"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Traditional autoscaling in Kubernetes reacts after resource spikes occur</a:t>
            </a:r>
          </a:p>
          <a:p>
            <a:pPr marL="342900" marR="0" lvl="0" indent="-342900" algn="just" fontAlgn="base"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DevOps teams spend significant effort analyzing logs and failures</a:t>
            </a:r>
          </a:p>
          <a:p>
            <a:pPr marL="342900" marR="0" lvl="0" indent="-342900" algn="just" fontAlgn="base"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Need for an automated, self-learning system that:</a:t>
            </a:r>
          </a:p>
          <a:p>
            <a:pPr marL="800100" lvl="1" indent="-34290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/>
              <a:t>Predicts failures early</a:t>
            </a:r>
          </a:p>
          <a:p>
            <a:pPr marL="800100" lvl="1" indent="-34290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/>
              <a:t>Detects anomalies immediately</a:t>
            </a:r>
          </a:p>
          <a:p>
            <a:pPr marL="800100" lvl="1" indent="-342900" algn="just" fontAlgn="base"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/>
              <a:t>Allocates resources proactively</a:t>
            </a:r>
          </a:p>
          <a:p>
            <a:pPr marL="342900" marR="0" lvl="0" indent="-342900" algn="just" fontAlgn="base"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dirty="0"/>
              <a:t>Reduces operational burden and improves delivery speed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09F6E5-4073-0C29-2EC0-9E8D8A269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232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261935-0551-2DFC-B5A5-7F12F8F7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A picture containing logo, text, emblem, symbol&#10;&#10;Description automatically generated">
            <a:extLst>
              <a:ext uri="{FF2B5EF4-FFF2-40B4-BE49-F238E27FC236}">
                <a16:creationId xmlns:a16="http://schemas.microsoft.com/office/drawing/2014/main" id="{2BC5051B-6D5A-55F0-0BFC-E4CA034EB6FF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4040" y="5662800"/>
            <a:ext cx="1283400" cy="1173960"/>
          </a:xfrm>
          <a:prstGeom prst="rect">
            <a:avLst/>
          </a:prstGeom>
          <a:ln w="0">
            <a:noFill/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ECF2FB89-51CC-E32B-18B4-28DF9ADC3236}"/>
              </a:ext>
            </a:extLst>
          </p:cNvPr>
          <p:cNvSpPr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203864"/>
                </a:solidFill>
                <a:latin typeface="Times New Roman"/>
                <a:ea typeface="DejaVu Sans"/>
              </a:rPr>
              <a:t>Dept of Computer Science and Engineering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203864"/>
                </a:solidFill>
                <a:latin typeface="Times New Roman"/>
                <a:ea typeface="DejaVu Sans"/>
              </a:rPr>
              <a:t>COEP Technological University, Pune</a:t>
            </a:r>
            <a:endParaRPr lang="en-IN" sz="2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IN" sz="1800" b="0" strike="noStrike" spc="-1" dirty="0"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0D87E9-4620-CDB0-14C6-599A1B833FA4}"/>
              </a:ext>
            </a:extLst>
          </p:cNvPr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5514AC9-0442-54E0-D911-9F8EBA5ADA45}"/>
              </a:ext>
            </a:extLst>
          </p:cNvPr>
          <p:cNvSpPr txBox="1">
            <a:spLocks/>
          </p:cNvSpPr>
          <p:nvPr/>
        </p:nvSpPr>
        <p:spPr>
          <a:xfrm>
            <a:off x="851253" y="206797"/>
            <a:ext cx="10488891" cy="8278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Literature Survey</a:t>
            </a:r>
            <a:endParaRPr lang="en-IN" sz="4000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E23BED5-2D7D-7C5D-7C59-C1FD55F0BD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906359"/>
              </p:ext>
            </p:extLst>
          </p:nvPr>
        </p:nvGraphicFramePr>
        <p:xfrm>
          <a:off x="292009" y="1156729"/>
          <a:ext cx="116073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9840">
                  <a:extLst>
                    <a:ext uri="{9D8B030D-6E8A-4147-A177-3AD203B41FA5}">
                      <a16:colId xmlns:a16="http://schemas.microsoft.com/office/drawing/2014/main" val="3772104468"/>
                    </a:ext>
                  </a:extLst>
                </a:gridCol>
                <a:gridCol w="2203397">
                  <a:extLst>
                    <a:ext uri="{9D8B030D-6E8A-4147-A177-3AD203B41FA5}">
                      <a16:colId xmlns:a16="http://schemas.microsoft.com/office/drawing/2014/main" val="2089944498"/>
                    </a:ext>
                  </a:extLst>
                </a:gridCol>
                <a:gridCol w="3901650">
                  <a:extLst>
                    <a:ext uri="{9D8B030D-6E8A-4147-A177-3AD203B41FA5}">
                      <a16:colId xmlns:a16="http://schemas.microsoft.com/office/drawing/2014/main" val="2466644824"/>
                    </a:ext>
                  </a:extLst>
                </a:gridCol>
                <a:gridCol w="5062493">
                  <a:extLst>
                    <a:ext uri="{9D8B030D-6E8A-4147-A177-3AD203B41FA5}">
                      <a16:colId xmlns:a16="http://schemas.microsoft.com/office/drawing/2014/main" val="980454904"/>
                    </a:ext>
                  </a:extLst>
                </a:gridCol>
              </a:tblGrid>
              <a:tr h="45137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Sr. No.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dirty="0"/>
                        <a:t>Paper Name</a:t>
                      </a:r>
                      <a:endParaRPr lang="en-IN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Work Done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dirty="0"/>
                        <a:t>Limitations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542713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Enhancing Machine-</a:t>
                      </a:r>
                    </a:p>
                    <a:p>
                      <a:pPr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Learning-Based Autoscaling for Cloud Resource Orchestration(2024)</a:t>
                      </a:r>
                      <a:endParaRPr lang="en-IN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Evaluates ML models for autoscaling cloud applications; compares feature sets and model architectures for predicting load and controlling scale actions.</a:t>
                      </a:r>
                      <a:endParaRPr lang="en-IN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Focuses on autoscaling alone; lacks integration with CI/CD signals or log anomaly inputs. Does not address end-to-end AIOps orchestration across prediction, anomaly detection and scaling.</a:t>
                      </a:r>
                      <a:endParaRPr lang="en-IN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104348077"/>
                  </a:ext>
                </a:extLst>
              </a:tr>
              <a:tr h="451377">
                <a:tc>
                  <a:txBody>
                    <a:bodyPr/>
                    <a:lstStyle/>
                    <a:p>
                      <a:pPr algn="just"/>
                      <a:r>
                        <a:rPr lang="en-US" dirty="0"/>
                        <a:t>2</a:t>
                      </a:r>
                      <a:endParaRPr lang="en-IN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Time-series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Forecasting-Based Kubernetes Autoscaling using Facebook Prophet and LSTM (2025)</a:t>
                      </a:r>
                      <a:endParaRPr lang="en-IN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Proposes a hybrid forecasting approach (statistical + LSTM) to predict cluster metrics and drive scaling decisions; evaluates forecast horizons and </a:t>
                      </a:r>
                      <a:r>
                        <a:rPr lang="en-I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autoscale</a:t>
                      </a: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rules.</a:t>
                      </a:r>
                      <a:endParaRPr lang="en-IN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Good forecasting results, but work evaluates autoscaling in isolation and does not incorporate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CI pipeline or log features (failure predictions/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anomalies). Limited discussion on real-time log</a:t>
                      </a:r>
                    </a:p>
                    <a:p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integration. </a:t>
                      </a:r>
                      <a:endParaRPr lang="en-IN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01731008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176DAE-F5E4-0368-E00E-BF579EB36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092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42522-8D78-C25F-4430-00F574F5D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A picture containing logo, text, emblem, symbol&#10;&#10;Description automatically generated">
            <a:extLst>
              <a:ext uri="{FF2B5EF4-FFF2-40B4-BE49-F238E27FC236}">
                <a16:creationId xmlns:a16="http://schemas.microsoft.com/office/drawing/2014/main" id="{B09CEF58-44C7-9136-E583-BE2DA2E2C04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4040" y="5662800"/>
            <a:ext cx="1283400" cy="1173960"/>
          </a:xfrm>
          <a:prstGeom prst="rect">
            <a:avLst/>
          </a:prstGeom>
          <a:ln w="0">
            <a:noFill/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87D0A0BC-20F2-0AC9-135B-151D85EC5AD1}"/>
              </a:ext>
            </a:extLst>
          </p:cNvPr>
          <p:cNvSpPr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203864"/>
                </a:solidFill>
                <a:latin typeface="Times New Roman"/>
                <a:ea typeface="DejaVu Sans"/>
              </a:rPr>
              <a:t>Dept of Computer Science and Engineering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203864"/>
                </a:solidFill>
                <a:latin typeface="Times New Roman"/>
                <a:ea typeface="DejaVu Sans"/>
              </a:rPr>
              <a:t>COEP Technological University, Pune</a:t>
            </a:r>
            <a:endParaRPr lang="en-IN" sz="2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IN" sz="1800" b="0" strike="noStrike" spc="-1" dirty="0"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3F352F-52B3-3280-2DF2-B89314F3B2D3}"/>
              </a:ext>
            </a:extLst>
          </p:cNvPr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38D03E-855A-CC59-D174-6C9A8C141C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4979082"/>
              </p:ext>
            </p:extLst>
          </p:nvPr>
        </p:nvGraphicFramePr>
        <p:xfrm>
          <a:off x="108858" y="102698"/>
          <a:ext cx="11996057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99">
                  <a:extLst>
                    <a:ext uri="{9D8B030D-6E8A-4147-A177-3AD203B41FA5}">
                      <a16:colId xmlns:a16="http://schemas.microsoft.com/office/drawing/2014/main" val="3772104468"/>
                    </a:ext>
                  </a:extLst>
                </a:gridCol>
                <a:gridCol w="2468812">
                  <a:extLst>
                    <a:ext uri="{9D8B030D-6E8A-4147-A177-3AD203B41FA5}">
                      <a16:colId xmlns:a16="http://schemas.microsoft.com/office/drawing/2014/main" val="2089944498"/>
                    </a:ext>
                  </a:extLst>
                </a:gridCol>
                <a:gridCol w="3785626">
                  <a:extLst>
                    <a:ext uri="{9D8B030D-6E8A-4147-A177-3AD203B41FA5}">
                      <a16:colId xmlns:a16="http://schemas.microsoft.com/office/drawing/2014/main" val="2466644824"/>
                    </a:ext>
                  </a:extLst>
                </a:gridCol>
                <a:gridCol w="5360620">
                  <a:extLst>
                    <a:ext uri="{9D8B030D-6E8A-4147-A177-3AD203B41FA5}">
                      <a16:colId xmlns:a16="http://schemas.microsoft.com/office/drawing/2014/main" val="980454904"/>
                    </a:ext>
                  </a:extLst>
                </a:gridCol>
              </a:tblGrid>
              <a:tr h="4513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Sr. No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Paper Name</a:t>
                      </a:r>
                      <a:endParaRPr lang="en-IN" dirty="0"/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Work Done</a:t>
                      </a:r>
                    </a:p>
                  </a:txBody>
                  <a:tcPr marL="45720" marR="4572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Limitations</a:t>
                      </a:r>
                    </a:p>
                  </a:txBody>
                  <a:tcPr marL="45720" marR="45720" anchor="ctr"/>
                </a:tc>
                <a:extLst>
                  <a:ext uri="{0D108BD9-81ED-4DB2-BD59-A6C34878D82A}">
                    <a16:rowId xmlns:a16="http://schemas.microsoft.com/office/drawing/2014/main" val="454271358"/>
                  </a:ext>
                </a:extLst>
              </a:tr>
              <a:tr h="451377">
                <a:tc>
                  <a:txBody>
                    <a:bodyPr/>
                    <a:lstStyle/>
                    <a:p>
                      <a:pPr lvl="0" algn="just"/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Deep Learning for Multivariate</a:t>
                      </a:r>
                    </a:p>
                    <a:p>
                      <a:pPr lvl="0"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Time-Series Anomaly Detection: A Survey (2024)</a:t>
                      </a:r>
                      <a:endParaRPr lang="en-IN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Comprehensive survey of reconstruction-based anomaly detectors (autoencoders, VAEs,</a:t>
                      </a:r>
                    </a:p>
                    <a:p>
                      <a:pPr lvl="0"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PCA, etc.) for multivariate time series; benchmarks methods and discusses thresholds. </a:t>
                      </a:r>
                      <a:endParaRPr lang="en-IN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Survey-level work; does not present an integrated DevOps pipeline case. Guidance on thresholding</a:t>
                      </a:r>
                    </a:p>
                    <a:p>
                      <a:pPr lvl="0"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useful, but lacks concrete application to text-based</a:t>
                      </a:r>
                    </a:p>
                    <a:p>
                      <a:pPr lvl="0"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CI logs (TF-IDF → Autoencoder pipeline).</a:t>
                      </a:r>
                      <a:endParaRPr lang="en-IN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104348077"/>
                  </a:ext>
                </a:extLst>
              </a:tr>
              <a:tr h="451377">
                <a:tc>
                  <a:txBody>
                    <a:bodyPr/>
                    <a:lstStyle/>
                    <a:p>
                      <a:pPr lvl="0" algn="just"/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Towards Optimization</a:t>
                      </a:r>
                    </a:p>
                    <a:p>
                      <a:pPr lvl="0"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 Anomaly Detection</a:t>
                      </a:r>
                    </a:p>
                    <a:p>
                      <a:pPr lvl="0"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in DevOps (2023)</a:t>
                      </a:r>
                      <a:endParaRPr lang="en-IN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Applies deep learning techniques for detecting anomalies in monitoring 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 log data in DevOps </a:t>
                      </a: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contexts; experiments with representation learning and feature selection.</a:t>
                      </a:r>
                      <a:endParaRPr lang="en-IN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Focuses mainly on monitoring metrics rather than long textual console logs; limited exploration</a:t>
                      </a:r>
                    </a:p>
                    <a:p>
                      <a:pPr lvl="0"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of the combination of supervised failure prediction and unsupervised log anomaly detection.</a:t>
                      </a:r>
                      <a:endParaRPr lang="en-IN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017310083"/>
                  </a:ext>
                </a:extLst>
              </a:tr>
              <a:tr h="451377">
                <a:tc>
                  <a:txBody>
                    <a:bodyPr/>
                    <a:lstStyle/>
                    <a:p>
                      <a:pPr lvl="0" algn="just"/>
                      <a:r>
                        <a:rPr lang="en-US" dirty="0"/>
                        <a:t>5</a:t>
                      </a:r>
                      <a:endParaRPr lang="en-IN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AI-Enhanced Platform Engineering: Revolutionizing CI/CD Pipelines Through Intelligent Automation (2021)</a:t>
                      </a:r>
                      <a:endParaRPr lang="en-IN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High-level study describing application of AI across CI/CD: predictive alerts, log triaging, and smart orchestration; includes case studies and proposed architecture patterns. </a:t>
                      </a:r>
                      <a:endParaRPr lang="en-IN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just"/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Conceptual and high level; lacks detailed experiments, concrete model evaluation, or implementation of a closed-loop </a:t>
                      </a:r>
                      <a:r>
                        <a:rPr lang="en-IN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autoscaler</a:t>
                      </a:r>
                      <a:r>
                        <a:rPr lang="en-IN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integrating failure predictions and log anomalies.</a:t>
                      </a:r>
                      <a:endParaRPr lang="en-IN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606430864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B4223B-E23D-3C01-27DB-B2CAF551C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8158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E2FDF-5F1B-318C-230A-3F6F83CCC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A picture containing logo, text, emblem, symbol&#10;&#10;Description automatically generated">
            <a:extLst>
              <a:ext uri="{FF2B5EF4-FFF2-40B4-BE49-F238E27FC236}">
                <a16:creationId xmlns:a16="http://schemas.microsoft.com/office/drawing/2014/main" id="{C02A90B4-D56F-6F59-F7CE-7FAA91360632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4040" y="5662800"/>
            <a:ext cx="1283400" cy="1173960"/>
          </a:xfrm>
          <a:prstGeom prst="rect">
            <a:avLst/>
          </a:prstGeom>
          <a:ln w="0">
            <a:noFill/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4EA398E5-4544-DF7E-B89F-10ED2A13A54E}"/>
              </a:ext>
            </a:extLst>
          </p:cNvPr>
          <p:cNvSpPr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203864"/>
                </a:solidFill>
                <a:latin typeface="Times New Roman"/>
                <a:ea typeface="DejaVu Sans"/>
              </a:rPr>
              <a:t>Dept of Computer Science and Engineering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203864"/>
                </a:solidFill>
                <a:latin typeface="Times New Roman"/>
                <a:ea typeface="DejaVu Sans"/>
              </a:rPr>
              <a:t>COEP Technological University, Pune</a:t>
            </a:r>
            <a:endParaRPr lang="en-IN" sz="2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IN" sz="1800" b="0" strike="noStrike" spc="-1" dirty="0"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7FF248-BA10-1EC7-A26C-E86D339B52A1}"/>
              </a:ext>
            </a:extLst>
          </p:cNvPr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2B93A34-E101-AB56-2E1F-F2E8493D5440}"/>
              </a:ext>
            </a:extLst>
          </p:cNvPr>
          <p:cNvSpPr txBox="1">
            <a:spLocks/>
          </p:cNvSpPr>
          <p:nvPr/>
        </p:nvSpPr>
        <p:spPr>
          <a:xfrm>
            <a:off x="851554" y="382079"/>
            <a:ext cx="10488891" cy="8278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Research Gaps</a:t>
            </a:r>
            <a:endParaRPr lang="en-IN" sz="4000" b="1" dirty="0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41FA8A3-93EC-B79F-8A41-98DC45E3400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51254" y="1349984"/>
            <a:ext cx="10488891" cy="3392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No unified AIOps framework combining:</a:t>
            </a:r>
          </a:p>
          <a:p>
            <a:pPr marL="800100" lvl="1" indent="-342900" algn="just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Build failure prediction</a:t>
            </a:r>
          </a:p>
          <a:p>
            <a:pPr marL="800100" lvl="1" indent="-342900" algn="just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Log anomaly detection</a:t>
            </a:r>
          </a:p>
          <a:p>
            <a:pPr marL="800100" lvl="1" indent="-342900" algn="just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CPU forecasting</a:t>
            </a:r>
          </a:p>
          <a:p>
            <a:pPr marL="800100" lvl="1" indent="-342900" algn="just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Predictive autoscaling</a:t>
            </a:r>
          </a:p>
          <a:p>
            <a:pPr marL="342900" indent="-342900" algn="just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Lack of predictive autoscaling</a:t>
            </a:r>
          </a:p>
          <a:p>
            <a:pPr marL="342900" indent="-342900" algn="just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Limited real-world CI/CD datasets</a:t>
            </a:r>
          </a:p>
          <a:p>
            <a:pPr marL="342900" indent="-342900" algn="just" fontAlgn="base"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Lack of closed-loop automation integrating Jenkins → ML → Kubernetes.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DE6C61-573B-561F-9950-BDF7379C6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443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5AAB1B-0F02-294C-B191-9887665B9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A picture containing logo, text, emblem, symbol&#10;&#10;Description automatically generated">
            <a:extLst>
              <a:ext uri="{FF2B5EF4-FFF2-40B4-BE49-F238E27FC236}">
                <a16:creationId xmlns:a16="http://schemas.microsoft.com/office/drawing/2014/main" id="{3D3FEE0B-3D33-1210-C3B9-05F0DD98DB2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4040" y="5662800"/>
            <a:ext cx="1283400" cy="1173960"/>
          </a:xfrm>
          <a:prstGeom prst="rect">
            <a:avLst/>
          </a:prstGeom>
          <a:ln w="0">
            <a:noFill/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CBEAFC6C-5CDC-7452-ADEB-D8D93D5D0E2D}"/>
              </a:ext>
            </a:extLst>
          </p:cNvPr>
          <p:cNvSpPr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203864"/>
                </a:solidFill>
                <a:latin typeface="Times New Roman"/>
                <a:ea typeface="DejaVu Sans"/>
              </a:rPr>
              <a:t>Dept of Computer Science and Engineering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203864"/>
                </a:solidFill>
                <a:latin typeface="Times New Roman"/>
                <a:ea typeface="DejaVu Sans"/>
              </a:rPr>
              <a:t>COEP Technological University, Pune</a:t>
            </a:r>
            <a:endParaRPr lang="en-IN" sz="2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IN" sz="1800" b="0" strike="noStrike" spc="-1" dirty="0"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90E90A-6C2B-18B6-D8DF-3F8739DF14D5}"/>
              </a:ext>
            </a:extLst>
          </p:cNvPr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DE9838A-F84C-EB01-575E-4681192A9F09}"/>
              </a:ext>
            </a:extLst>
          </p:cNvPr>
          <p:cNvSpPr txBox="1">
            <a:spLocks/>
          </p:cNvSpPr>
          <p:nvPr/>
        </p:nvSpPr>
        <p:spPr>
          <a:xfrm>
            <a:off x="851253" y="380148"/>
            <a:ext cx="10488891" cy="8278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/>
              <a:t>Problem Statement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0679191D-0F32-BC44-05EF-EFBE3AAB648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51254" y="2033543"/>
            <a:ext cx="10488891" cy="142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i="1" dirty="0"/>
              <a:t>“To design and implement an intelligent AIOps-based framework that can proactively predict CI/CD pipeline failures, detect anomalies in Jenkins logs in real time, and autonomously optimize Kubernetes resources through predictive autoscaling.”</a:t>
            </a:r>
            <a:endParaRPr lang="en-US" altLang="en-US" i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E1E1EE-F2BE-0337-3047-C3DBFA6B8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292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700B0-3974-4C84-23C5-2327C226F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A picture containing logo, text, emblem, symbol&#10;&#10;Description automatically generated">
            <a:extLst>
              <a:ext uri="{FF2B5EF4-FFF2-40B4-BE49-F238E27FC236}">
                <a16:creationId xmlns:a16="http://schemas.microsoft.com/office/drawing/2014/main" id="{122B1A59-07C5-6FFA-6AB6-9DDF44486087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4040" y="5662800"/>
            <a:ext cx="1283400" cy="1173960"/>
          </a:xfrm>
          <a:prstGeom prst="rect">
            <a:avLst/>
          </a:prstGeom>
          <a:ln w="0">
            <a:noFill/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6AFFC067-7206-2941-7E4F-C38AB5E89345}"/>
              </a:ext>
            </a:extLst>
          </p:cNvPr>
          <p:cNvSpPr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203864"/>
                </a:solidFill>
                <a:latin typeface="Times New Roman"/>
                <a:ea typeface="DejaVu Sans"/>
              </a:rPr>
              <a:t>Dept of Computer Science and Engineering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203864"/>
                </a:solidFill>
                <a:latin typeface="Times New Roman"/>
                <a:ea typeface="DejaVu Sans"/>
              </a:rPr>
              <a:t>COEP Technological University, Pune</a:t>
            </a:r>
            <a:endParaRPr lang="en-IN" sz="2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IN" sz="1800" b="0" strike="noStrike" spc="-1" dirty="0"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D3AAA5-8F33-30D3-5A19-4244F0222DFF}"/>
              </a:ext>
            </a:extLst>
          </p:cNvPr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0A7193-7CA9-B58F-6FD2-EDD05C835597}"/>
              </a:ext>
            </a:extLst>
          </p:cNvPr>
          <p:cNvSpPr txBox="1">
            <a:spLocks/>
          </p:cNvSpPr>
          <p:nvPr/>
        </p:nvSpPr>
        <p:spPr>
          <a:xfrm>
            <a:off x="851554" y="382079"/>
            <a:ext cx="10488891" cy="8278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/>
              <a:t>Research Objectives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E88E7F6-B4CC-3396-3C23-49A200D912C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51254" y="1608941"/>
            <a:ext cx="10488891" cy="2471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just" fontAlgn="base"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/>
              <a:t>To </a:t>
            </a:r>
            <a:r>
              <a:rPr lang="en-US" dirty="0"/>
              <a:t>Develop Data Collection Framework for CI/CD and Cluster Metrics</a:t>
            </a:r>
          </a:p>
          <a:p>
            <a:pPr marL="457200" lvl="0" indent="-457200" algn="just" fontAlgn="base">
              <a:spcAft>
                <a:spcPct val="0"/>
              </a:spcAft>
              <a:buFont typeface="+mj-lt"/>
              <a:buAutoNum type="arabicPeriod"/>
            </a:pPr>
            <a:r>
              <a:rPr lang="en-US" dirty="0"/>
              <a:t>To Build Machine Learning Models for Failure Prediction, Anomaly Detection, and CPU Forecasting</a:t>
            </a:r>
          </a:p>
          <a:p>
            <a:pPr marL="457200" lvl="0" indent="-457200" algn="just" fontAlgn="base">
              <a:spcAft>
                <a:spcPct val="0"/>
              </a:spcAft>
              <a:buFont typeface="+mj-lt"/>
              <a:buAutoNum type="arabicPeriod"/>
            </a:pPr>
            <a:r>
              <a:rPr lang="en-US" dirty="0"/>
              <a:t>To Implement a </a:t>
            </a:r>
            <a:r>
              <a:rPr lang="en-US" dirty="0" err="1"/>
              <a:t>FastAPI</a:t>
            </a:r>
            <a:r>
              <a:rPr lang="en-US" dirty="0"/>
              <a:t>-Based AIOps Orchestrator for Intelligent Decision-Making</a:t>
            </a:r>
          </a:p>
          <a:p>
            <a:pPr marL="457200" lvl="0" indent="-457200" algn="just" fontAlgn="base">
              <a:spcAft>
                <a:spcPct val="0"/>
              </a:spcAft>
              <a:buFont typeface="+mj-lt"/>
              <a:buAutoNum type="arabicPeriod"/>
            </a:pPr>
            <a:r>
              <a:rPr lang="en-US" dirty="0"/>
              <a:t>To Design a Predictive Autoscaling Engine for Kubernetes Using ML Outputs</a:t>
            </a:r>
            <a:endParaRPr lang="en-US" alt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1D57A5-5D89-52DC-E315-560A9A9D9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886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5627D-F7EC-ABAC-E82E-E53F3FFEE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A picture containing logo, text, emblem, symbol&#10;&#10;Description automatically generated">
            <a:extLst>
              <a:ext uri="{FF2B5EF4-FFF2-40B4-BE49-F238E27FC236}">
                <a16:creationId xmlns:a16="http://schemas.microsoft.com/office/drawing/2014/main" id="{CF023CFC-71EF-D9C9-0493-9E28A64A92EB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4040" y="5662800"/>
            <a:ext cx="1283400" cy="1173960"/>
          </a:xfrm>
          <a:prstGeom prst="rect">
            <a:avLst/>
          </a:prstGeom>
          <a:ln w="0">
            <a:noFill/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FB9A4032-717F-9DDE-42CE-8F682D462826}"/>
              </a:ext>
            </a:extLst>
          </p:cNvPr>
          <p:cNvSpPr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203864"/>
                </a:solidFill>
                <a:latin typeface="Times New Roman"/>
                <a:ea typeface="DejaVu Sans"/>
              </a:rPr>
              <a:t>Dept of Computer Science and Engineering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203864"/>
                </a:solidFill>
                <a:latin typeface="Times New Roman"/>
                <a:ea typeface="DejaVu Sans"/>
              </a:rPr>
              <a:t>COEP Technological University, Pune</a:t>
            </a:r>
            <a:endParaRPr lang="en-IN" sz="2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IN" sz="1800" b="0" strike="noStrike" spc="-1" dirty="0"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E9B54B-05C4-EFD1-5668-268F92F75F14}"/>
              </a:ext>
            </a:extLst>
          </p:cNvPr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2E110D-8903-4658-DFA9-D01A38D0C323}"/>
              </a:ext>
            </a:extLst>
          </p:cNvPr>
          <p:cNvSpPr txBox="1">
            <a:spLocks/>
          </p:cNvSpPr>
          <p:nvPr/>
        </p:nvSpPr>
        <p:spPr>
          <a:xfrm>
            <a:off x="1837440" y="21240"/>
            <a:ext cx="10488891" cy="76034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Proposed High Level System Design</a:t>
            </a:r>
            <a:endParaRPr lang="en-IN" sz="40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3C02E3-A564-3CF5-E8EA-7A04395646E6}"/>
              </a:ext>
            </a:extLst>
          </p:cNvPr>
          <p:cNvSpPr txBox="1"/>
          <p:nvPr/>
        </p:nvSpPr>
        <p:spPr>
          <a:xfrm>
            <a:off x="3946372" y="895232"/>
            <a:ext cx="726618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/>
              <a:t>Components: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/>
              <a:t>Data Collectors</a:t>
            </a:r>
            <a:endParaRPr lang="en-I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Jenkins API for logs + metadata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Prometheus for CPU metrics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/>
              <a:t>ML Layer</a:t>
            </a:r>
            <a:endParaRPr lang="en-I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 err="1"/>
              <a:t>XGBoost</a:t>
            </a:r>
            <a:r>
              <a:rPr lang="en-IN" sz="2400" dirty="0"/>
              <a:t>: Failure prediction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TF-IDF based Autoencoder: Log anomaly detection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LSTM: CPU forecasting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/>
              <a:t>AIOps Orchestrator</a:t>
            </a:r>
            <a:endParaRPr lang="en-I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 err="1"/>
              <a:t>FastAPI</a:t>
            </a:r>
            <a:r>
              <a:rPr lang="en-IN" sz="2400" dirty="0"/>
              <a:t>-based inference layer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400" b="1" dirty="0"/>
              <a:t>Predictive </a:t>
            </a:r>
            <a:r>
              <a:rPr lang="en-IN" sz="2400" b="1" dirty="0" err="1"/>
              <a:t>Autoscaler</a:t>
            </a:r>
            <a:endParaRPr lang="en-IN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2400" dirty="0"/>
              <a:t>Kubernetes API for scaling decisions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7E946C2-E75C-56A4-A6D2-C23224F1F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10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1BF6D0E-4D6F-C08A-A6ED-67089ABA78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59876"/>
            <a:ext cx="3946372" cy="459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288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D10CB-017A-1C7A-A307-E8DF8A0C5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A picture containing logo, text, emblem, symbol&#10;&#10;Description automatically generated">
            <a:extLst>
              <a:ext uri="{FF2B5EF4-FFF2-40B4-BE49-F238E27FC236}">
                <a16:creationId xmlns:a16="http://schemas.microsoft.com/office/drawing/2014/main" id="{CFBC5ED3-74A9-D93E-F926-956416D06070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4040" y="5662800"/>
            <a:ext cx="1283400" cy="1173960"/>
          </a:xfrm>
          <a:prstGeom prst="rect">
            <a:avLst/>
          </a:prstGeom>
          <a:ln w="0">
            <a:noFill/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0E9855C6-9E65-D3FE-D75A-DF55EB0E8ECD}"/>
              </a:ext>
            </a:extLst>
          </p:cNvPr>
          <p:cNvSpPr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203864"/>
                </a:solidFill>
                <a:latin typeface="Times New Roman"/>
                <a:ea typeface="DejaVu Sans"/>
              </a:rPr>
              <a:t>Dept of Computer Science and Engineering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203864"/>
                </a:solidFill>
                <a:latin typeface="Times New Roman"/>
                <a:ea typeface="DejaVu Sans"/>
              </a:rPr>
              <a:t>COEP Technological University, Pune</a:t>
            </a:r>
            <a:endParaRPr lang="en-IN" sz="2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IN" sz="1800" b="0" strike="noStrike" spc="-1" dirty="0"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EC1C09-D992-53D8-AFD2-64FE7B7A3F9D}"/>
              </a:ext>
            </a:extLst>
          </p:cNvPr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00EF570-A5AC-CEE8-5A80-A0E7AB107287}"/>
              </a:ext>
            </a:extLst>
          </p:cNvPr>
          <p:cNvSpPr txBox="1">
            <a:spLocks/>
          </p:cNvSpPr>
          <p:nvPr/>
        </p:nvSpPr>
        <p:spPr>
          <a:xfrm>
            <a:off x="750613" y="161736"/>
            <a:ext cx="10488891" cy="8278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Current Implementation Status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DD51F9-BD02-B3FC-80D8-CB39441BB857}"/>
              </a:ext>
            </a:extLst>
          </p:cNvPr>
          <p:cNvSpPr txBox="1"/>
          <p:nvPr/>
        </p:nvSpPr>
        <p:spPr>
          <a:xfrm>
            <a:off x="1325478" y="1120834"/>
            <a:ext cx="954044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Complete environment setup on Windows: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Language: Python 	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IDE: VS Code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Data Source:  Jenkins and Prometheus installed using docker </a:t>
            </a:r>
          </a:p>
          <a:p>
            <a:pPr lvl="1"/>
            <a:r>
              <a:rPr lang="en-IN" sz="24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Data Collection in process: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Jenkins pipeline created for real build logs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Setting up multiple demo projects for real log collection is in process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Jenkins data collection script prepared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400" dirty="0"/>
              <a:t>Synthetic data generator plan ready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71C3796-E83E-3AB0-95BD-6FC1FBDAC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4175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A0D72-0F44-0812-957F-977F68F5A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A picture containing logo, text, emblem, symbol&#10;&#10;Description automatically generated">
            <a:extLst>
              <a:ext uri="{FF2B5EF4-FFF2-40B4-BE49-F238E27FC236}">
                <a16:creationId xmlns:a16="http://schemas.microsoft.com/office/drawing/2014/main" id="{3C4B2500-C956-E8CC-C0A8-9089B7D17389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4040" y="5662800"/>
            <a:ext cx="1283400" cy="1173960"/>
          </a:xfrm>
          <a:prstGeom prst="rect">
            <a:avLst/>
          </a:prstGeom>
          <a:ln w="0">
            <a:noFill/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56C574E3-AFC3-27C2-8626-933CD58BFE7E}"/>
              </a:ext>
            </a:extLst>
          </p:cNvPr>
          <p:cNvSpPr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203864"/>
                </a:solidFill>
                <a:latin typeface="Times New Roman"/>
                <a:ea typeface="DejaVu Sans"/>
              </a:rPr>
              <a:t>Dept of Computer Science and Engineering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203864"/>
                </a:solidFill>
                <a:latin typeface="Times New Roman"/>
                <a:ea typeface="DejaVu Sans"/>
              </a:rPr>
              <a:t>COEP Technological University, Pune</a:t>
            </a:r>
            <a:endParaRPr lang="en-IN" sz="2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IN" sz="1800" b="0" strike="noStrike" spc="-1" dirty="0"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025761-7FDF-593F-F4BC-E6903E172328}"/>
              </a:ext>
            </a:extLst>
          </p:cNvPr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A23A424C-776A-1972-BF81-F25AAA6648A8}"/>
              </a:ext>
            </a:extLst>
          </p:cNvPr>
          <p:cNvSpPr txBox="1">
            <a:spLocks/>
          </p:cNvSpPr>
          <p:nvPr/>
        </p:nvSpPr>
        <p:spPr>
          <a:xfrm>
            <a:off x="750613" y="161736"/>
            <a:ext cx="10488891" cy="8278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Future Plan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155E9B-6D92-CAF1-9AFA-F3B8A23286A5}"/>
              </a:ext>
            </a:extLst>
          </p:cNvPr>
          <p:cNvSpPr txBox="1"/>
          <p:nvPr/>
        </p:nvSpPr>
        <p:spPr>
          <a:xfrm>
            <a:off x="632698" y="1024061"/>
            <a:ext cx="1031188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Phase I: Data &amp; Preprocessing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Complete real Jenkins log collection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Integrate Prometheus CPU metrics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Finalize log cleaning, TF-IDF vectors &amp; metadata extraction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Generate synthetic logs + CPU sequences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Phase II: Model Development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Train </a:t>
            </a:r>
            <a:r>
              <a:rPr lang="en-IN" sz="2400" dirty="0" err="1"/>
              <a:t>XGBoost</a:t>
            </a:r>
            <a:r>
              <a:rPr lang="en-IN" sz="2400" dirty="0"/>
              <a:t> (failure prediction)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Train Autoencoder (log anomalies)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Train LSTM (CPU forecasting)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Validate baseline performance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6FE0392-D323-1BFC-F91D-98FE8EBFC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137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58EFC-7345-DFA7-48F3-85577E01F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A picture containing logo, text, emblem, symbol&#10;&#10;Description automatically generated">
            <a:extLst>
              <a:ext uri="{FF2B5EF4-FFF2-40B4-BE49-F238E27FC236}">
                <a16:creationId xmlns:a16="http://schemas.microsoft.com/office/drawing/2014/main" id="{D53A71AA-BCB6-6DE6-A423-948F224A5776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4040" y="5662800"/>
            <a:ext cx="1283400" cy="1173960"/>
          </a:xfrm>
          <a:prstGeom prst="rect">
            <a:avLst/>
          </a:prstGeom>
          <a:ln w="0">
            <a:noFill/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E068E19A-4860-6C69-E8C4-BB496FA61F97}"/>
              </a:ext>
            </a:extLst>
          </p:cNvPr>
          <p:cNvSpPr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203864"/>
                </a:solidFill>
                <a:latin typeface="Times New Roman"/>
                <a:ea typeface="DejaVu Sans"/>
              </a:rPr>
              <a:t>Dept of Computer Science and Engineering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203864"/>
                </a:solidFill>
                <a:latin typeface="Times New Roman"/>
                <a:ea typeface="DejaVu Sans"/>
              </a:rPr>
              <a:t>COEP Technological University, Pune</a:t>
            </a:r>
            <a:endParaRPr lang="en-IN" sz="2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IN" sz="1800" b="0" strike="noStrike" spc="-1" dirty="0"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CF2062-5801-4BDB-5443-4AF5E3578687}"/>
              </a:ext>
            </a:extLst>
          </p:cNvPr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D498B6F-5C55-D448-4EA7-2D421000C55F}"/>
              </a:ext>
            </a:extLst>
          </p:cNvPr>
          <p:cNvSpPr txBox="1">
            <a:spLocks/>
          </p:cNvSpPr>
          <p:nvPr/>
        </p:nvSpPr>
        <p:spPr>
          <a:xfrm>
            <a:off x="750613" y="161736"/>
            <a:ext cx="10488891" cy="8278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Future Plan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CDB03D-DB67-7E7E-3379-CF15D15CBB0C}"/>
              </a:ext>
            </a:extLst>
          </p:cNvPr>
          <p:cNvSpPr txBox="1"/>
          <p:nvPr/>
        </p:nvSpPr>
        <p:spPr>
          <a:xfrm>
            <a:off x="632698" y="1024061"/>
            <a:ext cx="10311881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Phase III: Integration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Connect all models to </a:t>
            </a:r>
            <a:r>
              <a:rPr lang="en-IN" sz="2400" dirty="0" err="1"/>
              <a:t>FastAPI</a:t>
            </a:r>
            <a:r>
              <a:rPr lang="en-IN" sz="2400" dirty="0"/>
              <a:t> AIOps Orchestrator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Implement APIs: failure, anomaly, CPU forecast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Build predictive </a:t>
            </a:r>
            <a:r>
              <a:rPr lang="en-IN" sz="2400" dirty="0" err="1"/>
              <a:t>autoscaler</a:t>
            </a:r>
            <a:r>
              <a:rPr lang="en-IN" sz="2400" dirty="0"/>
              <a:t> using ML outputs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Connect </a:t>
            </a:r>
            <a:r>
              <a:rPr lang="en-IN" sz="2400" dirty="0" err="1"/>
              <a:t>autoscaler</a:t>
            </a:r>
            <a:r>
              <a:rPr lang="en-IN" sz="2400" dirty="0"/>
              <a:t> to Kubernetes API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24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IN" sz="2400" dirty="0"/>
              <a:t>Phase IV: Testing &amp; Finalization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End-to-end CI/CD testing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Compare predictive </a:t>
            </a:r>
            <a:r>
              <a:rPr lang="en-IN" sz="2400" dirty="0" err="1"/>
              <a:t>autoscaler</a:t>
            </a:r>
            <a:r>
              <a:rPr lang="en-IN" sz="2400" dirty="0"/>
              <a:t> vs default HPA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Create monitoring dashboard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sz="2400" dirty="0"/>
              <a:t>Final tuning + final documentation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27178CA-3C9D-A2DA-D055-3440E1036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231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7E60A-D286-FE13-A5A0-CFA895277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A picture containing logo, text, emblem, symbol&#10;&#10;Description automatically generated">
            <a:extLst>
              <a:ext uri="{FF2B5EF4-FFF2-40B4-BE49-F238E27FC236}">
                <a16:creationId xmlns:a16="http://schemas.microsoft.com/office/drawing/2014/main" id="{56D1A511-C035-953C-2414-2B57F0B2ABB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4040" y="5662800"/>
            <a:ext cx="1283400" cy="1173960"/>
          </a:xfrm>
          <a:prstGeom prst="rect">
            <a:avLst/>
          </a:prstGeom>
          <a:ln w="0">
            <a:noFill/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881A3339-4D67-9DB4-188C-41A871A29268}"/>
              </a:ext>
            </a:extLst>
          </p:cNvPr>
          <p:cNvSpPr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203864"/>
                </a:solidFill>
                <a:latin typeface="Times New Roman"/>
                <a:ea typeface="DejaVu Sans"/>
              </a:rPr>
              <a:t>Dept of Computer Science and Engineering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203864"/>
                </a:solidFill>
                <a:latin typeface="Times New Roman"/>
                <a:ea typeface="DejaVu Sans"/>
              </a:rPr>
              <a:t>COEP Technological University, Pune</a:t>
            </a:r>
            <a:endParaRPr lang="en-IN" sz="2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IN" sz="1800" b="0" strike="noStrike" spc="-1" dirty="0"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0004D1-EF6D-5500-AB90-A7D6676DD785}"/>
              </a:ext>
            </a:extLst>
          </p:cNvPr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7A0CE8C7-2A04-25D5-5972-FFCA26D4433A}"/>
              </a:ext>
            </a:extLst>
          </p:cNvPr>
          <p:cNvSpPr txBox="1">
            <a:spLocks/>
          </p:cNvSpPr>
          <p:nvPr/>
        </p:nvSpPr>
        <p:spPr>
          <a:xfrm>
            <a:off x="851554" y="382079"/>
            <a:ext cx="10488891" cy="8278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b="1" dirty="0"/>
              <a:t>References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61C1BFD6-FE24-3300-480C-0F72A06F73F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54040" y="1438739"/>
            <a:ext cx="11163478" cy="3652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N" sz="2000" dirty="0"/>
              <a:t>[1] I. Pintye, B. Goldschmidt, P. Holicza and A. Kertesz, “Enhancing Machine Learning-</a:t>
            </a:r>
            <a:r>
              <a:rPr lang="en-US" sz="2000" dirty="0"/>
              <a:t>Based Autoscaling for Cloud Resource Orchestration,” Journal of Grid Computing,</a:t>
            </a:r>
            <a:r>
              <a:rPr lang="nl-NL" sz="2000" dirty="0"/>
              <a:t>vol. 22, pp. 1–18, 2024.</a:t>
            </a:r>
          </a:p>
          <a:p>
            <a:pPr algn="just"/>
            <a:r>
              <a:rPr lang="en-US" sz="2000" dirty="0"/>
              <a:t>[2] P. B. Guruge and Y. H. P. P. Priyadarshana, “Time Series Forecasting-Based Kubernetes Autoscaling Using Facebook Prophet and Long Short-Term Memory,” Frontiers </a:t>
            </a:r>
            <a:r>
              <a:rPr lang="en-IN" sz="2000" dirty="0"/>
              <a:t>in Computer Science, vol. 5, 2025.</a:t>
            </a:r>
          </a:p>
          <a:p>
            <a:pPr algn="just"/>
            <a:r>
              <a:rPr lang="en-US" sz="2000" dirty="0"/>
              <a:t>[3] M. A. Yahya, W. Bakhtawar and M. Usman, “Deep Learning for Multivariate Time Series Anomaly Detection: A Survey of Reconstruction-Based Methods,” Artificial Intelligence </a:t>
            </a:r>
            <a:r>
              <a:rPr lang="en-IN" sz="2000" dirty="0"/>
              <a:t>Review, 2025.</a:t>
            </a:r>
          </a:p>
          <a:p>
            <a:pPr algn="just"/>
            <a:r>
              <a:rPr lang="en-US" sz="2000" dirty="0"/>
              <a:t>[4] A. </a:t>
            </a:r>
            <a:r>
              <a:rPr lang="en-US" sz="2000" dirty="0" err="1"/>
              <a:t>Hrusto</a:t>
            </a:r>
            <a:r>
              <a:rPr lang="en-US" sz="2000" dirty="0"/>
              <a:t>, “Towards Optimization of Anomaly Detection in DevOps,” Information and </a:t>
            </a:r>
            <a:r>
              <a:rPr lang="nl-NL" sz="2000" dirty="0"/>
              <a:t>Software Technology, vol. 158, 2023.</a:t>
            </a:r>
          </a:p>
          <a:p>
            <a:pPr algn="just"/>
            <a:r>
              <a:rPr lang="en-US" sz="2000" dirty="0"/>
              <a:t>[5] S. Das and P. Raj, “AI-Enhanced Platform Engineering: Revolutionizing CI/CD Pipelines Through Intelligent Automation,” International Journal of Computer Engineering Science and Technology, vol. 3, pp. 1–12, 2025.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E490D0-8E11-D736-49F1-C74332264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478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4AE9C-E317-9CF5-824F-14B148274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A picture containing logo, text, emblem, symbol&#10;&#10;Description automatically generated">
            <a:extLst>
              <a:ext uri="{FF2B5EF4-FFF2-40B4-BE49-F238E27FC236}">
                <a16:creationId xmlns:a16="http://schemas.microsoft.com/office/drawing/2014/main" id="{15797365-51AD-C4D6-13BB-78570CDF2E3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54040" y="5662800"/>
            <a:ext cx="1283400" cy="1173960"/>
          </a:xfrm>
          <a:prstGeom prst="rect">
            <a:avLst/>
          </a:prstGeom>
          <a:ln w="0">
            <a:noFill/>
          </a:ln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70E08CB2-1085-DC3C-2A8F-EEBF1AF0B39C}"/>
              </a:ext>
            </a:extLst>
          </p:cNvPr>
          <p:cNvSpPr/>
          <p:nvPr/>
        </p:nvSpPr>
        <p:spPr>
          <a:xfrm>
            <a:off x="1963440" y="5648760"/>
            <a:ext cx="9249120" cy="11065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2400" b="1" spc="-1" dirty="0">
                <a:solidFill>
                  <a:srgbClr val="203864"/>
                </a:solidFill>
                <a:latin typeface="Times New Roman"/>
                <a:ea typeface="DejaVu Sans"/>
              </a:rPr>
              <a:t>Dept of Computer Science and Engineering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2400" b="1" strike="noStrike" spc="-1" dirty="0">
                <a:solidFill>
                  <a:srgbClr val="203864"/>
                </a:solidFill>
                <a:latin typeface="Times New Roman"/>
                <a:ea typeface="DejaVu Sans"/>
              </a:rPr>
              <a:t>COEP Technological University, Pune</a:t>
            </a:r>
            <a:endParaRPr lang="en-IN" sz="24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IN" sz="1800" b="0" strike="noStrike" spc="-1" dirty="0">
              <a:latin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D4B697-09A9-1422-AC2E-80EE7AEC63CD}"/>
              </a:ext>
            </a:extLst>
          </p:cNvPr>
          <p:cNvSpPr/>
          <p:nvPr/>
        </p:nvSpPr>
        <p:spPr>
          <a:xfrm>
            <a:off x="0" y="5533200"/>
            <a:ext cx="12191400" cy="1148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D2C6CA7-1F80-6A05-8BEC-8F96F10BE0C7}"/>
              </a:ext>
            </a:extLst>
          </p:cNvPr>
          <p:cNvSpPr txBox="1">
            <a:spLocks/>
          </p:cNvSpPr>
          <p:nvPr/>
        </p:nvSpPr>
        <p:spPr>
          <a:xfrm>
            <a:off x="851254" y="2186339"/>
            <a:ext cx="10488891" cy="82788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7200" b="1" dirty="0"/>
              <a:t>Thank You !!!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6B396AF-3431-95C8-3352-A242DBB95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BC9D4-4648-4F9B-8F96-37C2084FE60C}" type="slidenum">
              <a:rPr lang="en-IN" smtClean="0"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17073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595ec8e-1e2e-428f-9506-de1cbd0c2835}" enabled="1" method="Standard" siteId="{2bb82c64-2eb1-43f7-8862-fdc1d2333b50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2883</TotalTime>
  <Words>1268</Words>
  <Application>Microsoft Office PowerPoint</Application>
  <PresentationFormat>Widescreen</PresentationFormat>
  <Paragraphs>189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</vt:lpstr>
      <vt:lpstr>Calibri</vt:lpstr>
      <vt:lpstr>Calibri Light</vt:lpstr>
      <vt:lpstr>Times New Roman</vt:lpstr>
      <vt:lpstr>Wingdings</vt:lpstr>
      <vt:lpstr>Office Theme</vt:lpstr>
      <vt:lpstr>Intelligent AIOps Framework for Predictive CI/CD Pipeline Management and Autonomous Resource Optimization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Shrimant Chavan</dc:creator>
  <cp:lastModifiedBy>Jagtap Tejas (EXT)</cp:lastModifiedBy>
  <cp:revision>14</cp:revision>
  <dcterms:created xsi:type="dcterms:W3CDTF">2025-10-08T16:44:17Z</dcterms:created>
  <dcterms:modified xsi:type="dcterms:W3CDTF">2025-12-06T04:48:05Z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KONE Internal</vt:lpwstr>
  </property>
</Properties>
</file>