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94660"/>
  </p:normalViewPr>
  <p:slideViewPr>
    <p:cSldViewPr snapToGrid="0">
      <p:cViewPr>
        <p:scale>
          <a:sx n="75" d="100"/>
          <a:sy n="75" d="100"/>
        </p:scale>
        <p:origin x="268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3723B-1EFE-41EE-BDA4-8391E087930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3B8FA-12AA-48CD-ACE4-2347EAD57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681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EF1F-E38F-874E-890F-D831BF5C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23063-52A7-F4D4-EF95-6C36AD1F2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C787C-6092-E42C-644E-D8ADC94B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F883-8207-4A42-B7F8-70EFB319B300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C98F5-5681-7632-5B5F-93FC24528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B0713-C1CF-B22D-7823-860905CD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20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9762D-CD09-2C49-8EAE-FF98F845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1679D-B789-6D00-F902-FD76E7C6B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16778-9F31-378D-157D-F6F6D243F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60E9-AA1F-48EA-8DE1-DF9FC6D2C327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9E08E-256B-0524-88B4-E8DA35A7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7DFA2-A612-76C9-03B2-DE7997BF4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65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5D229-8F08-6E57-F746-B00C3EE1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A0850-3FB9-DB42-E3D5-450FAB654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35149-F99B-AE49-A87F-DB1E55314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F-B8E1-463C-82CF-A84642FBBBA5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90A3D-44EE-14DD-D194-D3320D397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A9B7-118C-E52A-63A3-812C8DA9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8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0D5C-16AA-28EB-BF2C-E526C4F9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ED3F3-DFB4-17DD-7079-B796FFAA4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8C396-C09D-B691-4CC0-EC5B5963A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B820F-3250-C5AD-91C0-9A0E563F6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0E31-018D-4348-9C75-355DB2803615}" type="datetime1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1DF79-9E42-AD1E-4EB0-C3605841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DF02C-AF76-F913-2B56-F89F3F37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4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BC209-4DFA-C6B6-3C01-FD404525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F1A15-9CB5-30AD-D1C0-7958FF8D2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55F4A-DA89-31E6-C6AD-73406616B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B8F8A-89D6-8F8F-ECC6-E372000380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F12F15-96B3-72E3-B802-B2F5B616D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AD097-E75D-D8C6-51C1-8534F651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E65D-F896-4649-9882-CFC187AC5965}" type="datetime1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F72A9-1588-985D-C254-4F56410F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E70287-DBA0-8742-3D81-7A9B2AA1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28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C996-6CF0-2D0B-4FA7-7A3520AD9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8B6C6-7313-C16F-92EB-53DAD9F8D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3A8F-5DB5-4670-82AF-676CCC92EFB6}" type="datetime1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770C6-7E35-4027-E9F5-ACA31767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F62DC-0DCD-DE72-F4B7-5F5A579C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495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A57238-1693-99D2-1FFA-D154D2CD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A38C-66CD-441C-874C-B493E2C76624}" type="datetime1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7DB6C-967A-EF65-CCD0-B86EDF127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CC210-9110-F096-6683-1D0D5379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71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94DD-082A-00A7-8F32-ADFB36E8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08C83-44CF-6C93-809F-B2501ADBF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10CB0-7723-21AA-512E-DB19888FF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FD5C9-415E-7EFB-0E01-74940BAD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6FEC-936E-4B06-8585-C4ED5077816F}" type="datetime1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BDAC1-D8B5-0E09-E378-87A5E2FA0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4470D-83FB-83DC-B621-35B052D8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34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B0A4-60CC-4AC1-EF44-A4FE2C62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042953-B615-7B96-7975-91A183337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B9F22-B76A-2CE0-60DF-0767C8E08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BC6C3-5739-D26B-115F-5B97A1FB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27B9E-6EC7-4BE9-AA9D-0D0E555473BC}" type="datetime1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47809-C886-24EB-F5F5-9C3FFB19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B7E7D-D06C-2B06-A0F4-EC4CE328C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64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805F-8E36-B91E-2412-642D27D8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F9074-809F-7883-12F2-89C69F387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28481-6843-3017-F616-D74DD03B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472C-C8C6-4CFD-B071-A207B60DAE7A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BEC55-E0A6-1FDA-6492-4DC82F42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6D2DF-3CF3-B757-60B8-3EEAC260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884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30EDD-3BF0-EE94-7C2F-E557B89D7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50367-4E93-F600-ACA0-7EF45B0D3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ABE3C-7CED-05E8-CA0E-14A8C25B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311F4-4B6A-4E42-A00D-72DE737E578A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FDA80-5087-FA63-AECF-56DE6757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99565-76B3-850A-800C-DF1EB58D6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87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5A77B-18F6-18F8-F5C2-73DDD5AD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910AB-F107-2441-134C-F37CEAA9E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3558D-0271-1EC3-303B-EF9DFE1E9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834AC-05E8-4267-AF5B-7C99039C4523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C1470-956D-2DEE-013C-CD68E527C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3D9C8-C522-8A84-42CA-903B080E0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60436A-4D11-8328-E0ED-0FDD794CAB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469688" y="63500"/>
            <a:ext cx="68738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KONE Internal</a:t>
            </a:r>
          </a:p>
        </p:txBody>
      </p:sp>
    </p:spTree>
    <p:extLst>
      <p:ext uri="{BB962C8B-B14F-4D97-AF65-F5344CB8AC3E}">
        <p14:creationId xmlns:p14="http://schemas.microsoft.com/office/powerpoint/2010/main" val="253170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382078"/>
            <a:ext cx="10488891" cy="2078317"/>
          </a:xfrm>
        </p:spPr>
        <p:txBody>
          <a:bodyPr/>
          <a:lstStyle/>
          <a:p>
            <a:r>
              <a:rPr sz="4000" b="1"/>
              <a:t>Intelligent AIOps Framework for Predictive CI/CD</a:t>
            </a:r>
            <a:br/>
            <a:r>
              <a:rPr sz="4000" b="1"/>
              <a:t>Pipeline Management and Autonomous Resource</a:t>
            </a:r>
            <a:br/>
            <a:r>
              <a:rPr sz="4000" b="1"/>
              <a:t>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88997"/>
            <a:ext cx="9144000" cy="1371918"/>
          </a:xfrm>
        </p:spPr>
        <p:txBody>
          <a:bodyPr/>
          <a:lstStyle/>
          <a:p>
            <a:r>
              <a:t>Tejas Annasaheb Jagtap</a:t>
            </a:r>
          </a:p>
          <a:p>
            <a:r>
              <a:t>MTech Information Security</a:t>
            </a:r>
          </a:p>
          <a:p>
            <a:r>
              <a:t>712442021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700" y="4689517"/>
            <a:ext cx="9144000" cy="57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Guide: Dr. V. K. Pachghare</a:t>
            </a:r>
          </a:p>
        </p:txBody>
      </p:sp>
      <p:pic>
        <p:nvPicPr>
          <p:cNvPr id="5" name="Picture 4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382079"/>
            <a:ext cx="10488891" cy="827882"/>
          </a:xfrm>
        </p:spPr>
        <p:txBody>
          <a:bodyPr/>
          <a:lstStyle/>
          <a:p>
            <a:r>
              <a:rPr sz="4000" b="1"/>
              <a:t>Contents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270" y="1209960"/>
            <a:ext cx="10612859" cy="3835922"/>
          </a:xfrm>
        </p:spPr>
        <p:txBody>
          <a:bodyPr wrap="square"/>
          <a:lstStyle/>
          <a:p>
            <a:pPr algn="l"/>
            <a:r>
              <a:rPr sz="2400"/>
              <a:t>Introduction</a:t>
            </a:r>
          </a:p>
          <a:p>
            <a:pPr algn="l"/>
            <a:r>
              <a:rPr sz="2400"/>
              <a:t>Literature Survey</a:t>
            </a:r>
          </a:p>
          <a:p>
            <a:pPr algn="l"/>
            <a:r>
              <a:rPr sz="2400"/>
              <a:t>Research Gap</a:t>
            </a:r>
          </a:p>
          <a:p>
            <a:pPr algn="l"/>
            <a:r>
              <a:rPr sz="2400"/>
              <a:t>Problem Statement</a:t>
            </a:r>
          </a:p>
          <a:p>
            <a:pPr algn="l"/>
            <a:r>
              <a:rPr sz="2400"/>
              <a:t>Research Objectives</a:t>
            </a:r>
          </a:p>
          <a:p>
            <a:pPr algn="l"/>
            <a:r>
              <a:rPr sz="2400"/>
              <a:t>Proposed High Level System Design</a:t>
            </a:r>
          </a:p>
          <a:p>
            <a:pPr algn="l"/>
            <a:r>
              <a:rPr sz="2400"/>
              <a:t>Phase-II: Implementation &amp; Evaluation</a:t>
            </a:r>
          </a:p>
          <a:p>
            <a:pPr algn="l"/>
            <a:r>
              <a:rPr sz="2400"/>
              <a:t>    Synthetic Data Generation</a:t>
            </a:r>
          </a:p>
          <a:p>
            <a:pPr algn="l"/>
            <a:r>
              <a:rPr sz="2400"/>
              <a:t>    Model Training (XGBoost, Autoencoder, LSTM)</a:t>
            </a:r>
          </a:p>
          <a:p>
            <a:pPr algn="l"/>
            <a:r>
              <a:rPr sz="2400"/>
              <a:t>    Evaluation Results</a:t>
            </a:r>
          </a:p>
          <a:p>
            <a:pPr algn="l"/>
            <a:r>
              <a:rPr sz="2400"/>
              <a:t>Future Plan (Phase-III)</a:t>
            </a:r>
          </a:p>
          <a:p>
            <a:pPr algn="l"/>
            <a:r>
              <a:rPr sz="2400"/>
              <a:t>References</a:t>
            </a:r>
          </a:p>
        </p:txBody>
      </p:sp>
      <p:pic>
        <p:nvPicPr>
          <p:cNvPr id="4" name="Picture 3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117110"/>
            <a:ext cx="10488891" cy="827882"/>
          </a:xfrm>
        </p:spPr>
        <p:txBody>
          <a:bodyPr/>
          <a:lstStyle/>
          <a:p>
            <a:r>
              <a:rPr sz="4000" b="1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270" y="1149378"/>
            <a:ext cx="10612859" cy="3835922"/>
          </a:xfrm>
        </p:spPr>
        <p:txBody>
          <a:bodyPr wrap="square"/>
          <a:lstStyle/>
          <a:p>
            <a:pPr algn="just"/>
            <a:r>
              <a:rPr sz="2400"/>
              <a:t>Modern software systems rely heavily on continuous integration and continuous deployment (CI/CD) pipelines for rapid delivery</a:t>
            </a:r>
          </a:p>
          <a:p>
            <a:pPr algn="just"/>
            <a:r>
              <a:rPr sz="2400"/>
              <a:t>These pipelines generate massive volumes of logs and metrics</a:t>
            </a:r>
          </a:p>
          <a:p>
            <a:pPr algn="just"/>
            <a:r>
              <a:rPr sz="2400"/>
              <a:t>DevOps teams struggle with:</a:t>
            </a:r>
          </a:p>
          <a:p>
            <a:pPr algn="just"/>
            <a:r>
              <a:rPr sz="2400"/>
              <a:t>Unpredictable build failures wasting time and resources</a:t>
            </a:r>
          </a:p>
          <a:p>
            <a:pPr algn="just"/>
            <a:r>
              <a:rPr sz="2400"/>
              <a:t>Manual debugging of thousands of log lines</a:t>
            </a:r>
          </a:p>
          <a:p>
            <a:pPr algn="just"/>
            <a:r>
              <a:rPr sz="2400"/>
              <a:t>Reactive (not proactive) Kubernetes scaling decisions</a:t>
            </a:r>
          </a:p>
          <a:p>
            <a:pPr algn="just"/>
            <a:r>
              <a:rPr sz="2400"/>
              <a:t>AIOps (AI for IT Operations) integrates Machine Learning + Automation to enhance CI/CD reliability and infrastructure management</a:t>
            </a:r>
          </a:p>
        </p:txBody>
      </p:sp>
      <p:pic>
        <p:nvPicPr>
          <p:cNvPr id="4" name="Picture 3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246660"/>
            <a:ext cx="10488891" cy="827882"/>
          </a:xfrm>
        </p:spPr>
        <p:txBody>
          <a:bodyPr/>
          <a:lstStyle/>
          <a:p>
            <a:r>
              <a:rPr sz="4000" b="1"/>
              <a:t>Motivation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270" y="1149378"/>
            <a:ext cx="10612859" cy="3835922"/>
          </a:xfrm>
        </p:spPr>
        <p:txBody>
          <a:bodyPr wrap="square"/>
          <a:lstStyle/>
          <a:p>
            <a:pPr algn="just"/>
            <a:r>
              <a:rPr sz="2400"/>
              <a:t>Frequent build failures lead to deployment delays and wasted compute</a:t>
            </a:r>
          </a:p>
          <a:p>
            <a:pPr algn="just"/>
            <a:r>
              <a:rPr sz="2400"/>
              <a:t>Manual root-cause analysis is slow and error-prone</a:t>
            </a:r>
          </a:p>
          <a:p>
            <a:pPr algn="just"/>
            <a:r>
              <a:rPr sz="2400"/>
              <a:t>Traditional autoscaling in Kubernetes reacts AFTER resource spikes occur</a:t>
            </a:r>
          </a:p>
          <a:p>
            <a:pPr algn="just"/>
            <a:r>
              <a:rPr sz="2400"/>
              <a:t>DevOps teams spend significant effort analyzing logs and failures</a:t>
            </a:r>
          </a:p>
          <a:p>
            <a:pPr algn="just"/>
            <a:r>
              <a:rPr sz="2400"/>
              <a:t>Need for an automated, self-learning system that:</a:t>
            </a:r>
          </a:p>
          <a:p>
            <a:pPr algn="just"/>
            <a:r>
              <a:rPr sz="2400"/>
              <a:t>Predicts failures early using historical build patterns</a:t>
            </a:r>
          </a:p>
          <a:p>
            <a:pPr algn="just"/>
            <a:r>
              <a:rPr sz="2400"/>
              <a:t>Detects anomalies in logs immediately using ML</a:t>
            </a:r>
          </a:p>
          <a:p>
            <a:pPr algn="just"/>
            <a:r>
              <a:rPr sz="2400"/>
              <a:t>Allocates resources proactively based on forecasts</a:t>
            </a:r>
          </a:p>
          <a:p>
            <a:pPr algn="just"/>
            <a:r>
              <a:rPr sz="2400"/>
              <a:t>Reduces operational burden and improves delivery speed</a:t>
            </a:r>
          </a:p>
        </p:txBody>
      </p:sp>
      <p:pic>
        <p:nvPicPr>
          <p:cNvPr id="4" name="Picture 3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206797"/>
            <a:ext cx="10488891" cy="827882"/>
          </a:xfrm>
        </p:spPr>
        <p:txBody>
          <a:bodyPr/>
          <a:lstStyle/>
          <a:p>
            <a:r>
              <a:rPr sz="4000" b="1"/>
              <a:t>Literature Survey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2608" y="1161288"/>
          <a:ext cx="1161287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4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5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Sr.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Paper Name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Work Done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Enhancing ML-Based Autoscaling for Cloud Resource Orchestration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Evaluates ML models for autoscaling; compares architectures for predicting load.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Focuses on autoscaling alone; no CI/CD or log integration.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Time-series Forecasting-Based K8s Autoscaling Using Prophet and LSTM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Hybrid </a:t>
                      </a:r>
                      <a:r>
                        <a:rPr sz="900" dirty="0" err="1"/>
                        <a:t>Prophet+LSTM</a:t>
                      </a:r>
                      <a:r>
                        <a:rPr sz="900" dirty="0"/>
                        <a:t> approach for cluster metric prediction and scaling.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 CI/CD signals or log anomalies; evaluates autoscaling in isolation.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Deep Learning for Multivariate Time-Series Anomaly Detection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Survey of autoencoders, VAEs for anomaly detection; benchmarks thresholds.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Survey-level; no concrete DevOps pipeline application for CI logs.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" y="100584"/>
          <a:ext cx="11996927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5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8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155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Sr.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Paper Name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Work Done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568"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Towards Optimization of Anomaly Detection in DevOps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Evaluates anomaly detection techniques for DevOps monitoring.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 CI/CD build prediction; focuses only on runtime anomalies.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5568"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AI-Enhanced Platform Engineering: Revolutionizing CI/CD Pipelines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Proposes AI integration for CI/CD optimization and resource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Conceptual framework; no trained models or experimental validation.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5568"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Predictive Failure Analysis in CI Pipelines Using Ensemble Trees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Ensemble tree models for CI build failure prediction from metadata.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Limited dataset; no anomaly detection or predictive scaling integration.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5568">
                <a:tc>
                  <a:txBody>
                    <a:bodyPr/>
                    <a:lstStyle/>
                    <a:p>
                      <a:r>
                        <a:rPr sz="9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Empirical Analysis on CI/CD Pipeline Evolution: Failures and Bottlenecks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Identifies common failure causes, temporal patterns, and bottlenecks.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Descriptive study; no automated ML solutions proposed.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246660"/>
            <a:ext cx="10488891" cy="827882"/>
          </a:xfrm>
        </p:spPr>
        <p:txBody>
          <a:bodyPr/>
          <a:lstStyle/>
          <a:p>
            <a:r>
              <a:rPr sz="4000" b="1"/>
              <a:t>Research Gap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270" y="1149378"/>
            <a:ext cx="10612859" cy="3835922"/>
          </a:xfrm>
        </p:spPr>
        <p:txBody>
          <a:bodyPr wrap="square"/>
          <a:lstStyle/>
          <a:p>
            <a:pPr algn="just"/>
            <a:r>
              <a:rPr sz="2400"/>
              <a:t>No unified AIOps framework combining:</a:t>
            </a:r>
          </a:p>
          <a:p>
            <a:pPr algn="just"/>
            <a:r>
              <a:rPr sz="2400"/>
              <a:t>Build failure prediction</a:t>
            </a:r>
          </a:p>
          <a:p>
            <a:pPr algn="just"/>
            <a:r>
              <a:rPr sz="2400"/>
              <a:t>Log anomaly detection</a:t>
            </a:r>
          </a:p>
          <a:p>
            <a:pPr algn="just"/>
            <a:r>
              <a:rPr sz="2400"/>
              <a:t>CPU forecasting</a:t>
            </a:r>
          </a:p>
          <a:p>
            <a:pPr algn="just"/>
            <a:r>
              <a:rPr sz="2400"/>
              <a:t>Predictive autoscaling</a:t>
            </a:r>
          </a:p>
          <a:p>
            <a:pPr algn="just"/>
            <a:r>
              <a:rPr sz="2400"/>
              <a:t>Lack of predictive autoscaling</a:t>
            </a:r>
          </a:p>
          <a:p>
            <a:pPr algn="just"/>
            <a:r>
              <a:rPr sz="2400"/>
              <a:t>Limited real-world CI/CD datasets</a:t>
            </a:r>
          </a:p>
          <a:p>
            <a:pPr algn="just"/>
            <a:r>
              <a:rPr sz="2400"/>
              <a:t>Lack of closed-loop automation integrating Jenkins → ML → Kubernetes.</a:t>
            </a:r>
          </a:p>
        </p:txBody>
      </p:sp>
      <p:pic>
        <p:nvPicPr>
          <p:cNvPr id="4" name="Picture 3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380148"/>
            <a:ext cx="10488891" cy="827882"/>
          </a:xfrm>
        </p:spPr>
        <p:txBody>
          <a:bodyPr/>
          <a:lstStyle/>
          <a:p>
            <a:r>
              <a:rPr sz="4000" b="1"/>
              <a:t>Problem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270" y="2033543"/>
            <a:ext cx="10612859" cy="1421928"/>
          </a:xfrm>
        </p:spPr>
        <p:txBody>
          <a:bodyPr wrap="square"/>
          <a:lstStyle/>
          <a:p>
            <a:pPr algn="just"/>
            <a:r>
              <a:rPr sz="2400"/>
              <a:t>"To design and implement an intelligent AIOps-based framework that can proactively predict CI/CD pipeline failures, detect anomalies in Jenkins logs in real time, and autonomously optimize Kubernetes resources through predictive autoscaling."</a:t>
            </a:r>
          </a:p>
        </p:txBody>
      </p:sp>
      <p:pic>
        <p:nvPicPr>
          <p:cNvPr id="4" name="Picture 3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382079"/>
            <a:ext cx="10488891" cy="827882"/>
          </a:xfrm>
        </p:spPr>
        <p:txBody>
          <a:bodyPr/>
          <a:lstStyle/>
          <a:p>
            <a:r>
              <a:rPr sz="4000" b="1"/>
              <a:t>Research 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270" y="1608941"/>
            <a:ext cx="10612859" cy="2471446"/>
          </a:xfrm>
        </p:spPr>
        <p:txBody>
          <a:bodyPr wrap="square"/>
          <a:lstStyle/>
          <a:p>
            <a:pPr algn="just"/>
            <a:r>
              <a:rPr sz="2400"/>
              <a:t>To Develop Data Collection Framework for CI/CD and Cluster Metrics</a:t>
            </a:r>
          </a:p>
          <a:p>
            <a:pPr algn="just"/>
            <a:r>
              <a:rPr sz="2400"/>
              <a:t>To Build Machine Learning Models for Failure Prediction, Anomaly Detection, and CPU Forecasting</a:t>
            </a:r>
          </a:p>
          <a:p>
            <a:pPr algn="just"/>
            <a:r>
              <a:rPr sz="2400"/>
              <a:t>To Implement a FastAPI-Based AIOps Orchestrator for Intelligent Decision-Making</a:t>
            </a:r>
          </a:p>
          <a:p>
            <a:pPr algn="just"/>
            <a:r>
              <a:rPr sz="2400"/>
              <a:t>To Design a Predictive Autoscaling Engine for Kubernetes Using ML Outputs</a:t>
            </a:r>
          </a:p>
        </p:txBody>
      </p:sp>
      <p:pic>
        <p:nvPicPr>
          <p:cNvPr id="4" name="Picture 3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21240"/>
            <a:ext cx="10488891" cy="827882"/>
          </a:xfrm>
        </p:spPr>
        <p:txBody>
          <a:bodyPr/>
          <a:lstStyle/>
          <a:p>
            <a:r>
              <a:rPr sz="4000" b="1"/>
              <a:t>Proposed High Level System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architecut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876"/>
            <a:ext cx="3946372" cy="45946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46372" y="895232"/>
            <a:ext cx="72661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/>
              <a:t>Components:</a:t>
            </a:r>
          </a:p>
          <a:p>
            <a:pPr algn="just"/>
            <a:r>
              <a:rPr sz="2400"/>
              <a:t>Data Collectors</a:t>
            </a:r>
          </a:p>
          <a:p>
            <a:pPr algn="just"/>
            <a:r>
              <a:rPr sz="2400"/>
              <a:t>Jenkins API for logs + metadata</a:t>
            </a:r>
          </a:p>
          <a:p>
            <a:pPr algn="just"/>
            <a:r>
              <a:rPr sz="2400"/>
              <a:t>Prometheus for CPU metrics</a:t>
            </a:r>
          </a:p>
          <a:p>
            <a:pPr algn="just"/>
            <a:r>
              <a:rPr sz="2400"/>
              <a:t>ML Layer</a:t>
            </a:r>
          </a:p>
          <a:p>
            <a:pPr algn="just"/>
            <a:r>
              <a:rPr sz="2400"/>
              <a:t>XGBoost: Failure prediction</a:t>
            </a:r>
          </a:p>
          <a:p>
            <a:pPr algn="just"/>
            <a:r>
              <a:rPr sz="2400"/>
              <a:t>TF-IDF based Autoencoder: Log anomaly detection</a:t>
            </a:r>
          </a:p>
          <a:p>
            <a:pPr algn="just"/>
            <a:r>
              <a:rPr sz="2400"/>
              <a:t>LSTM: CPU forecasting</a:t>
            </a:r>
          </a:p>
          <a:p>
            <a:pPr algn="just"/>
            <a:r>
              <a:rPr sz="2400"/>
              <a:t>AIOps Orchestrator</a:t>
            </a:r>
          </a:p>
          <a:p>
            <a:pPr algn="just"/>
            <a:r>
              <a:rPr sz="2400"/>
              <a:t>FastAPI-based inference layer</a:t>
            </a:r>
          </a:p>
          <a:p>
            <a:pPr algn="just"/>
            <a:r>
              <a:rPr sz="2400"/>
              <a:t>Predictive Autoscaler</a:t>
            </a:r>
          </a:p>
          <a:p>
            <a:pPr algn="just"/>
            <a:r>
              <a:rPr sz="2400"/>
              <a:t>Kubernetes API for scaling decisions</a:t>
            </a:r>
          </a:p>
        </p:txBody>
      </p:sp>
      <p:pic>
        <p:nvPicPr>
          <p:cNvPr id="6" name="Picture 5" descr="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161736"/>
            <a:ext cx="10488891" cy="827882"/>
          </a:xfrm>
        </p:spPr>
        <p:txBody>
          <a:bodyPr/>
          <a:lstStyle/>
          <a:p>
            <a:r>
              <a:rPr sz="4000" b="1"/>
              <a:t>Phase-II: Data Pipeline &amp; Collection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270" y="1149378"/>
            <a:ext cx="10612859" cy="3835922"/>
          </a:xfrm>
        </p:spPr>
        <p:txBody>
          <a:bodyPr wrap="square"/>
          <a:lstStyle/>
          <a:p>
            <a:pPr algn="just"/>
            <a:r>
              <a:rPr sz="2400"/>
              <a:t>Synthetic Data Generation (generate_synthetic_data.py):</a:t>
            </a:r>
          </a:p>
          <a:p>
            <a:pPr algn="just"/>
            <a:r>
              <a:rPr sz="2400"/>
              <a:t>600 Jenkins build records with realistic metadata</a:t>
            </a:r>
          </a:p>
          <a:p>
            <a:pPr algn="just"/>
            <a:r>
              <a:rPr sz="2400"/>
              <a:t>600+ console log files (success, failure, unstable patterns)</a:t>
            </a:r>
          </a:p>
          <a:p>
            <a:pPr algn="just"/>
            <a:r>
              <a:rPr sz="2400"/>
              <a:t>10,000+ CPU time-series data points with daily/weekly patterns</a:t>
            </a:r>
          </a:p>
          <a:p>
            <a:pPr algn="just"/>
            <a:endParaRPr sz="2400"/>
          </a:p>
          <a:p>
            <a:pPr algn="just"/>
            <a:r>
              <a:rPr sz="2400"/>
              <a:t>Data Collection Infrastructure:</a:t>
            </a:r>
          </a:p>
          <a:p>
            <a:pPr algn="just"/>
            <a:r>
              <a:rPr sz="2400"/>
              <a:t>Jenkins REST API collector for build metadata and logs</a:t>
            </a:r>
          </a:p>
          <a:p>
            <a:pPr algn="just"/>
            <a:r>
              <a:rPr sz="2400"/>
              <a:t>Prometheus HTTP API collector for CPU/memory metrics</a:t>
            </a:r>
          </a:p>
          <a:p>
            <a:pPr algn="just"/>
            <a:r>
              <a:rPr sz="2400"/>
              <a:t>Real-time streaming collector with configurable intervals</a:t>
            </a:r>
          </a:p>
          <a:p>
            <a:pPr algn="just"/>
            <a:endParaRPr sz="2400"/>
          </a:p>
          <a:p>
            <a:pPr algn="just"/>
            <a:r>
              <a:rPr sz="2400"/>
              <a:t>Data preprocessing pipelines:</a:t>
            </a:r>
          </a:p>
          <a:p>
            <a:pPr algn="just"/>
            <a:r>
              <a:rPr sz="2400"/>
              <a:t>TF-IDF vectorization (500 features, ngram 1-2, sublinear TF)</a:t>
            </a:r>
          </a:p>
          <a:p>
            <a:pPr algn="just"/>
            <a:r>
              <a:rPr sz="2400"/>
              <a:t>MinMaxScaler normalization for CPU time-series</a:t>
            </a:r>
          </a:p>
          <a:p>
            <a:pPr algn="just"/>
            <a:r>
              <a:rPr sz="2400"/>
              <a:t>Feature extraction from build metadata (8 features)</a:t>
            </a:r>
          </a:p>
        </p:txBody>
      </p:sp>
      <p:pic>
        <p:nvPicPr>
          <p:cNvPr id="4" name="Picture 3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161736"/>
            <a:ext cx="10488891" cy="827882"/>
          </a:xfrm>
        </p:spPr>
        <p:txBody>
          <a:bodyPr/>
          <a:lstStyle/>
          <a:p>
            <a:r>
              <a:rPr sz="4000" b="1"/>
              <a:t>Model 1: XGBoost — Failure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9270" y="1149378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/>
              <a:t>Gradient boosted ensemble of 100 decision trees</a:t>
            </a:r>
          </a:p>
          <a:p>
            <a:pPr algn="just"/>
            <a:r>
              <a:rPr sz="2400"/>
              <a:t>Input: 8 features (duration, errors, warnings,</a:t>
            </a:r>
          </a:p>
          <a:p>
            <a:pPr algn="just"/>
            <a:r>
              <a:rPr sz="2400"/>
              <a:t>  failures, log_length, tests_failed/passed/total)</a:t>
            </a:r>
          </a:p>
          <a:p>
            <a:pPr algn="just"/>
            <a:r>
              <a:rPr sz="2400"/>
              <a:t>Output: Failure probability (0–1)</a:t>
            </a:r>
          </a:p>
          <a:p>
            <a:pPr algn="just"/>
            <a:r>
              <a:rPr sz="2400"/>
              <a:t>Handles class imbalance via scale_pos_weight</a:t>
            </a:r>
          </a:p>
          <a:p>
            <a:pPr algn="just"/>
            <a:r>
              <a:rPr sz="2400"/>
              <a:t>80/20 stratified train-test split</a:t>
            </a:r>
          </a:p>
          <a:p>
            <a:pPr algn="just"/>
            <a:r>
              <a:rPr sz="2400"/>
              <a:t>5-Fold Cross Validation: 99.0% ± 0.6% accuracy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005840"/>
          <a:ext cx="3657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98.33%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93.10%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96.43%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/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xgboo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259" y="163451"/>
            <a:ext cx="3474720" cy="2895600"/>
          </a:xfrm>
          <a:prstGeom prst="rect">
            <a:avLst/>
          </a:prstGeom>
        </p:spPr>
      </p:pic>
      <p:pic>
        <p:nvPicPr>
          <p:cNvPr id="7" name="Picture 6" descr="xgboost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13" y="2091815"/>
            <a:ext cx="5029200" cy="3592286"/>
          </a:xfrm>
          <a:prstGeom prst="rect">
            <a:avLst/>
          </a:prstGeom>
        </p:spPr>
      </p:pic>
      <p:pic>
        <p:nvPicPr>
          <p:cNvPr id="8" name="Picture 7" descr="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161736"/>
            <a:ext cx="10488891" cy="827882"/>
          </a:xfrm>
        </p:spPr>
        <p:txBody>
          <a:bodyPr/>
          <a:lstStyle/>
          <a:p>
            <a:r>
              <a:rPr sz="4000" b="1"/>
              <a:t>Model 2: TF-IDF + Autoencoder — Anomaly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9270" y="1149378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/>
              <a:t>Two-Stage Pipeline:</a:t>
            </a:r>
          </a:p>
          <a:p>
            <a:pPr algn="just"/>
            <a:r>
              <a:rPr sz="2400"/>
              <a:t>Stage 1: TF-IDF vectorization (500 features)</a:t>
            </a:r>
          </a:p>
          <a:p>
            <a:pPr algn="just"/>
            <a:r>
              <a:rPr sz="2400"/>
              <a:t>  ngram range (1,2), sublinear TF scaling</a:t>
            </a:r>
          </a:p>
          <a:p>
            <a:pPr algn="just"/>
            <a:r>
              <a:rPr sz="2400"/>
              <a:t>Stage 2: Autoencoder neural network</a:t>
            </a:r>
          </a:p>
          <a:p>
            <a:pPr algn="just"/>
            <a:r>
              <a:rPr sz="2400"/>
              <a:t>  Architecture: 500→128→64→32→64→128→500</a:t>
            </a:r>
          </a:p>
          <a:p>
            <a:pPr algn="just"/>
            <a:r>
              <a:rPr sz="2400"/>
              <a:t>  Trained on normal logs only (unsupervised)</a:t>
            </a:r>
          </a:p>
          <a:p>
            <a:pPr algn="just"/>
            <a:r>
              <a:rPr sz="2400"/>
              <a:t>  Anomaly = high reconstruction error</a:t>
            </a:r>
          </a:p>
          <a:p>
            <a:pPr algn="just"/>
            <a:r>
              <a:rPr sz="2400"/>
              <a:t>Threshold: 95th percentile of normal errors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005840"/>
          <a:ext cx="3657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95.87%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84.85%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91.80%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/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98.92%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anomaly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657600"/>
            <a:ext cx="3474720" cy="2895600"/>
          </a:xfrm>
          <a:prstGeom prst="rect">
            <a:avLst/>
          </a:prstGeom>
        </p:spPr>
      </p:pic>
      <p:pic>
        <p:nvPicPr>
          <p:cNvPr id="7" name="Picture 6" descr="anomaly_erro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657600"/>
            <a:ext cx="5029200" cy="3143250"/>
          </a:xfrm>
          <a:prstGeom prst="rect">
            <a:avLst/>
          </a:prstGeom>
        </p:spPr>
      </p:pic>
      <p:pic>
        <p:nvPicPr>
          <p:cNvPr id="8" name="Picture 7" descr="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161736"/>
            <a:ext cx="10488891" cy="827882"/>
          </a:xfrm>
        </p:spPr>
        <p:txBody>
          <a:bodyPr/>
          <a:lstStyle/>
          <a:p>
            <a:r>
              <a:rPr sz="4000" b="1"/>
              <a:t>Model 3: LSTM — CPU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9270" y="1149378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/>
              <a:t>Input: 60-minute CPU history (sliding window)</a:t>
            </a:r>
          </a:p>
          <a:p>
            <a:pPr algn="just"/>
            <a:r>
              <a:rPr sz="2400"/>
              <a:t>Output: Predicted CPU usage 10 minutes ahead</a:t>
            </a:r>
          </a:p>
          <a:p>
            <a:pPr algn="just"/>
            <a:r>
              <a:rPr sz="2400"/>
              <a:t>Architecture: LSTM(128) → LSTM(64) → Dense(32) → Dense(1)</a:t>
            </a:r>
          </a:p>
          <a:p>
            <a:pPr algn="just"/>
            <a:r>
              <a:rPr sz="2400"/>
              <a:t>MinMaxScaler normalization to [0, 1]</a:t>
            </a:r>
          </a:p>
          <a:p>
            <a:pPr algn="just"/>
            <a:r>
              <a:rPr sz="2400"/>
              <a:t>10,000+ training sequences</a:t>
            </a:r>
          </a:p>
          <a:p>
            <a:pPr algn="just"/>
            <a:r>
              <a:rPr sz="2400"/>
              <a:t>Early stopping + LR reduction on plateau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00584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0.0436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0.0710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/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9.56%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lstm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657600"/>
            <a:ext cx="5029200" cy="2095500"/>
          </a:xfrm>
          <a:prstGeom prst="rect">
            <a:avLst/>
          </a:prstGeom>
        </p:spPr>
      </p:pic>
      <p:pic>
        <p:nvPicPr>
          <p:cNvPr id="7" name="Picture 6" descr="lstm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657600"/>
            <a:ext cx="3474720" cy="3474720"/>
          </a:xfrm>
          <a:prstGeom prst="rect">
            <a:avLst/>
          </a:prstGeom>
        </p:spPr>
      </p:pic>
      <p:pic>
        <p:nvPicPr>
          <p:cNvPr id="8" name="Picture 7" descr="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161736"/>
            <a:ext cx="10488891" cy="827882"/>
          </a:xfrm>
        </p:spPr>
        <p:txBody>
          <a:bodyPr/>
          <a:lstStyle/>
          <a:p>
            <a:r>
              <a:rPr sz="4000" b="1"/>
              <a:t>Combined Model Performance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 Metric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ROC AUC / R²</a:t>
                      </a:r>
                    </a:p>
                  </a:txBody>
                  <a:tcPr>
                    <a:solidFill>
                      <a:srgbClr val="325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Failure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F1 = 0.964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AUC = 1.000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TF-IDF + Autoencoder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F1 = 0.918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AUC = 0.989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CPU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RMSE = 0.071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R² = 0.435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model_comparis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9144000" cy="3918857"/>
          </a:xfrm>
          <a:prstGeom prst="rect">
            <a:avLst/>
          </a:prstGeom>
        </p:spPr>
      </p:pic>
      <p:pic>
        <p:nvPicPr>
          <p:cNvPr id="6" name="Picture 5" descr="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161736"/>
            <a:ext cx="10488891" cy="827882"/>
          </a:xfrm>
        </p:spPr>
        <p:txBody>
          <a:bodyPr/>
          <a:lstStyle/>
          <a:p>
            <a:r>
              <a:rPr sz="4000" b="1"/>
              <a:t>ROC Curves — Classification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xgboost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029200" cy="4191000"/>
          </a:xfrm>
          <a:prstGeom prst="rect">
            <a:avLst/>
          </a:prstGeom>
        </p:spPr>
      </p:pic>
      <p:pic>
        <p:nvPicPr>
          <p:cNvPr id="5" name="Picture 4" descr="anomaly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188720"/>
            <a:ext cx="50292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029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/>
              <a:t>XGBoost: AUC = 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5029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/>
              <a:t>Autoencoder: AUC = 0.989</a:t>
            </a:r>
          </a:p>
        </p:txBody>
      </p:sp>
      <p:pic>
        <p:nvPicPr>
          <p:cNvPr id="8" name="Picture 7" descr="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161736"/>
            <a:ext cx="10488891" cy="827882"/>
          </a:xfrm>
        </p:spPr>
        <p:txBody>
          <a:bodyPr/>
          <a:lstStyle/>
          <a:p>
            <a:r>
              <a:rPr sz="4000" b="1"/>
              <a:t>Future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270" y="1024061"/>
            <a:ext cx="10612859" cy="4154984"/>
          </a:xfrm>
        </p:spPr>
        <p:txBody>
          <a:bodyPr wrap="square"/>
          <a:lstStyle/>
          <a:p>
            <a:pPr algn="just"/>
            <a:r>
              <a:rPr sz="2400"/>
              <a:t>Phase III: Integration</a:t>
            </a:r>
          </a:p>
          <a:p>
            <a:pPr algn="just"/>
            <a:r>
              <a:rPr sz="2400"/>
              <a:t>Connect all models to FastAPI AIOps Orchestrator</a:t>
            </a:r>
          </a:p>
          <a:p>
            <a:pPr algn="just"/>
            <a:r>
              <a:rPr sz="2400"/>
              <a:t>Implement APIs: failure, anomaly, CPU forecast</a:t>
            </a:r>
          </a:p>
          <a:p>
            <a:pPr algn="just"/>
            <a:r>
              <a:rPr sz="2400"/>
              <a:t>Build predictive autoscaler using ML outputs</a:t>
            </a:r>
          </a:p>
          <a:p>
            <a:pPr algn="just"/>
            <a:r>
              <a:rPr sz="2400"/>
              <a:t>Connect autoscaler to Kubernetes API</a:t>
            </a:r>
          </a:p>
          <a:p>
            <a:pPr algn="just"/>
            <a:endParaRPr sz="2400"/>
          </a:p>
          <a:p>
            <a:pPr algn="just"/>
            <a:r>
              <a:rPr sz="2400"/>
              <a:t>Phase IV: Testing &amp; Finalization</a:t>
            </a:r>
          </a:p>
          <a:p>
            <a:pPr algn="just"/>
            <a:r>
              <a:rPr sz="2400"/>
              <a:t>End-to-end CI/CD testing</a:t>
            </a:r>
          </a:p>
          <a:p>
            <a:pPr algn="just"/>
            <a:r>
              <a:rPr sz="2400"/>
              <a:t>Compare predictive autoscaler vs default HPA</a:t>
            </a:r>
          </a:p>
          <a:p>
            <a:pPr algn="just"/>
            <a:r>
              <a:rPr sz="2400"/>
              <a:t>Create monitoring dashboard</a:t>
            </a:r>
          </a:p>
          <a:p>
            <a:pPr algn="just"/>
            <a:r>
              <a:rPr sz="2400"/>
              <a:t>Final tuning + final documentation</a:t>
            </a:r>
          </a:p>
        </p:txBody>
      </p:sp>
      <p:pic>
        <p:nvPicPr>
          <p:cNvPr id="4" name="Picture 3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382079"/>
            <a:ext cx="10488891" cy="827882"/>
          </a:xfrm>
        </p:spPr>
        <p:txBody>
          <a:bodyPr/>
          <a:lstStyle/>
          <a:p>
            <a:r>
              <a:rPr sz="4000" b="1"/>
              <a:t>References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270" y="1438739"/>
            <a:ext cx="10612859" cy="3652282"/>
          </a:xfrm>
        </p:spPr>
        <p:txBody>
          <a:bodyPr wrap="square"/>
          <a:lstStyle/>
          <a:p>
            <a:pPr algn="just"/>
            <a:r>
              <a:rPr sz="2000"/>
              <a:t>[1] I. Pintye, B. Goldschmidt, P. Holicza and A. Kertesz, "Enhancing Machine Learning-Based Autoscaling for Cloud Resource Orchestration," J. Grid Computing, vol. 22, 2024.</a:t>
            </a:r>
          </a:p>
          <a:p>
            <a:pPr algn="just"/>
            <a:r>
              <a:rPr sz="2000"/>
              <a:t>[2] P. B. Guruge and Y. H. P. P. Priyadarshana, "Time Series Forecasting-Based Kubernetes Autoscaling Using Prophet and LSTM," Frontiers in CS, vol. 5, 2025.</a:t>
            </a:r>
          </a:p>
          <a:p>
            <a:pPr algn="just"/>
            <a:r>
              <a:rPr sz="2000"/>
              <a:t>[3] M. A. Yahya, W. Bakhtawar and M. Usman, "Deep Learning for Multivariate Time Series Anomaly Detection: A Survey," AI Review, 2025.</a:t>
            </a:r>
          </a:p>
          <a:p>
            <a:pPr algn="just"/>
            <a:r>
              <a:rPr sz="2000"/>
              <a:t>[4] A. Hrusto, "Towards Optimization of Anomaly Detection in DevOps," IST, vol. 158, 2023.</a:t>
            </a:r>
          </a:p>
          <a:p>
            <a:pPr algn="just"/>
            <a:r>
              <a:rPr sz="2000"/>
              <a:t>[5] S. Das and P. Raj, "AI-Enhanced Platform Engineering: Revolutionizing CI/CD Pipelines," IJCEST, 2025.</a:t>
            </a:r>
          </a:p>
          <a:p>
            <a:pPr algn="just"/>
            <a:r>
              <a:rPr sz="2000"/>
              <a:t>[6] P. Mathew and A. Baswareddy, "Predictive Failure Analysis in CI Pipelines Using Ensemble Trees," IJACS, 2025.</a:t>
            </a:r>
          </a:p>
          <a:p>
            <a:pPr algn="just"/>
            <a:r>
              <a:rPr sz="2000"/>
              <a:t>[7] H. Guo et al., "LogBERT: Transformer-Based Log Anomaly Detection for CI/CD Systems," ICSE, 2021.</a:t>
            </a:r>
          </a:p>
          <a:p>
            <a:pPr algn="just"/>
            <a:r>
              <a:rPr sz="2000"/>
              <a:t>[8] A. Houerbi et al., "Empirical Analysis on CI/CD Pipeline Evolution: Failures and Bottlenecks," JSME, 2024.</a:t>
            </a:r>
          </a:p>
        </p:txBody>
      </p:sp>
      <p:pic>
        <p:nvPicPr>
          <p:cNvPr id="4" name="Picture 3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254" y="2186339"/>
            <a:ext cx="10488891" cy="827882"/>
          </a:xfrm>
        </p:spPr>
        <p:txBody>
          <a:bodyPr/>
          <a:lstStyle/>
          <a:p>
            <a:r>
              <a:rPr sz="7200" b="1"/>
              <a:t>Thank You !!!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4" name="Picture 3" descr="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" y="5662800"/>
            <a:ext cx="1283400" cy="1173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Dept of Computer Science and Engineering</a:t>
            </a:r>
          </a:p>
          <a:p>
            <a:pPr algn="ctr"/>
            <a:r>
              <a:rPr sz="2400" b="1">
                <a:solidFill>
                  <a:srgbClr val="203864"/>
                </a:solidFill>
                <a:latin typeface="Times New Roman"/>
              </a:rPr>
              <a:t>COEP Technological University, Pune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rgbClr val="325490"/>
          </a:solidFill>
          <a:ln>
            <a:solidFill>
              <a:srgbClr val="32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595ec8e-1e2e-428f-9506-de1cbd0c2835}" enabled="1" method="Standard" siteId="{2bb82c64-2eb1-43f7-8862-fdc1d2333b5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3094</TotalTime>
  <Words>1616</Words>
  <Application>Microsoft Office PowerPoint</Application>
  <PresentationFormat>Widescreen</PresentationFormat>
  <Paragraphs>276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</vt:lpstr>
      <vt:lpstr>Calibri</vt:lpstr>
      <vt:lpstr>Calibri Light</vt:lpstr>
      <vt:lpstr>Times New Roman</vt:lpstr>
      <vt:lpstr>Office Theme</vt:lpstr>
      <vt:lpstr>Intelligent AIOps Framework for Predictive CI/CD Pipeline Management and Autonomous Resource Optimization</vt:lpstr>
      <vt:lpstr>Contents</vt:lpstr>
      <vt:lpstr>Introduction</vt:lpstr>
      <vt:lpstr>Motivation</vt:lpstr>
      <vt:lpstr>Literature Survey</vt:lpstr>
      <vt:lpstr>PowerPoint Presentation</vt:lpstr>
      <vt:lpstr>Research Gap</vt:lpstr>
      <vt:lpstr>Problem Statement</vt:lpstr>
      <vt:lpstr>Research Objectives</vt:lpstr>
      <vt:lpstr>Proposed High Level System Design</vt:lpstr>
      <vt:lpstr>Phase-II: Data Pipeline &amp; Collection</vt:lpstr>
      <vt:lpstr>Model 1: XGBoost — Failure Prediction</vt:lpstr>
      <vt:lpstr>Model 2: TF-IDF + Autoencoder — Anomaly Detection</vt:lpstr>
      <vt:lpstr>Model 3: LSTM — CPU Forecasting</vt:lpstr>
      <vt:lpstr>Combined Model Performance Summary</vt:lpstr>
      <vt:lpstr>ROC Curves — Classification Models</vt:lpstr>
      <vt:lpstr>Future Plan</vt:lpstr>
      <vt:lpstr>References</vt:lpstr>
      <vt:lpstr>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Shrimant Chavan</dc:creator>
  <cp:lastModifiedBy>Jagtap Tejas (EXT)</cp:lastModifiedBy>
  <cp:revision>15</cp:revision>
  <dcterms:created xsi:type="dcterms:W3CDTF">2025-10-08T16:44:17Z</dcterms:created>
  <dcterms:modified xsi:type="dcterms:W3CDTF">2026-04-07T08:34:49Z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KONE Internal</vt:lpwstr>
  </property>
</Properties>
</file>